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59" r:id="rId5"/>
    <p:sldId id="277" r:id="rId6"/>
    <p:sldId id="275" r:id="rId7"/>
    <p:sldId id="267" r:id="rId8"/>
    <p:sldId id="268" r:id="rId9"/>
    <p:sldId id="269" r:id="rId10"/>
    <p:sldId id="278" r:id="rId11"/>
    <p:sldId id="280" r:id="rId12"/>
    <p:sldId id="281" r:id="rId13"/>
    <p:sldId id="282" r:id="rId14"/>
    <p:sldId id="279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07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8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192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94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541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83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36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86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605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9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27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84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E6912-1E47-41B1-B320-7FC41B9A909D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AE8F9-D6BC-49BC-B496-FF205AA468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20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patriotisme </a:t>
            </a:r>
            <a:r>
              <a:rPr lang="ar-MA" dirty="0" smtClean="0"/>
              <a:t>« </a:t>
            </a:r>
            <a:r>
              <a:rPr lang="ar-MA" dirty="0" err="1" smtClean="0">
                <a:solidFill>
                  <a:srgbClr val="FF0000"/>
                </a:solidFill>
              </a:rPr>
              <a:t>تمغربيت</a:t>
            </a:r>
            <a:r>
              <a:rPr lang="ar-MA" dirty="0" smtClean="0"/>
              <a:t>»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1268760"/>
            <a:ext cx="8291264" cy="4929411"/>
          </a:xfrm>
        </p:spPr>
        <p:txBody>
          <a:bodyPr>
            <a:normAutofit fontScale="40000" lnSpcReduction="20000"/>
          </a:bodyPr>
          <a:lstStyle/>
          <a:p>
            <a:r>
              <a:rPr lang="ar-MA" dirty="0" smtClean="0">
                <a:solidFill>
                  <a:schemeClr val="tx2"/>
                </a:solidFill>
              </a:rPr>
              <a:t>   </a:t>
            </a:r>
            <a:r>
              <a:rPr lang="fr-FR" sz="5100" b="1" dirty="0" smtClean="0">
                <a:solidFill>
                  <a:schemeClr val="tx2"/>
                </a:solidFill>
              </a:rPr>
              <a:t>Attachement sentimental a sa patrie se manifestant par </a:t>
            </a:r>
            <a:r>
              <a:rPr lang="fr-FR" sz="5100" b="1" dirty="0">
                <a:solidFill>
                  <a:schemeClr val="tx2"/>
                </a:solidFill>
              </a:rPr>
              <a:t>la volonté de </a:t>
            </a:r>
            <a:r>
              <a:rPr lang="fr-FR" sz="5100" b="1" dirty="0" smtClean="0">
                <a:solidFill>
                  <a:schemeClr val="tx2"/>
                </a:solidFill>
              </a:rPr>
              <a:t>la </a:t>
            </a:r>
            <a:r>
              <a:rPr lang="ar-MA" sz="5100" b="1" smtClean="0">
                <a:solidFill>
                  <a:schemeClr val="tx2"/>
                </a:solidFill>
              </a:rPr>
              <a:t>                              </a:t>
            </a:r>
            <a:r>
              <a:rPr lang="fr-FR" sz="5100" b="1" smtClean="0">
                <a:solidFill>
                  <a:schemeClr val="tx2"/>
                </a:solidFill>
              </a:rPr>
              <a:t>défendre</a:t>
            </a:r>
            <a:r>
              <a:rPr lang="fr-FR" sz="5100" b="1" dirty="0" smtClean="0">
                <a:solidFill>
                  <a:schemeClr val="tx2"/>
                </a:solidFill>
              </a:rPr>
              <a:t>, de la promouvoir.</a:t>
            </a:r>
            <a:r>
              <a:rPr lang="ar-MA" sz="5100" b="1" dirty="0" smtClean="0">
                <a:solidFill>
                  <a:schemeClr val="tx2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ar-MA" sz="5100" dirty="0" smtClean="0">
                <a:sym typeface="Wingdings" pitchFamily="2" charset="2"/>
              </a:rPr>
              <a:t>         </a:t>
            </a:r>
            <a:r>
              <a:rPr lang="ar-MA" sz="5100" b="1" dirty="0" smtClean="0">
                <a:solidFill>
                  <a:srgbClr val="FF0000"/>
                </a:solidFill>
                <a:sym typeface="Wingdings" pitchFamily="2" charset="2"/>
              </a:rPr>
              <a:t>«أنا </a:t>
            </a:r>
            <a:r>
              <a:rPr lang="ar-MA" sz="5100" b="1" dirty="0" err="1" smtClean="0">
                <a:solidFill>
                  <a:srgbClr val="FF0000"/>
                </a:solidFill>
                <a:sym typeface="Wingdings" pitchFamily="2" charset="2"/>
              </a:rPr>
              <a:t>أتمغرب</a:t>
            </a:r>
            <a:r>
              <a:rPr lang="ar-MA" sz="5100" b="1" dirty="0" smtClean="0">
                <a:solidFill>
                  <a:srgbClr val="FF0000"/>
                </a:solidFill>
                <a:sym typeface="Wingdings" pitchFamily="2" charset="2"/>
              </a:rPr>
              <a:t> إذا أنا مغربي» </a:t>
            </a:r>
            <a:endParaRPr lang="fr-FR" sz="51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ar-MA" sz="5100" dirty="0" smtClean="0">
                <a:sym typeface="Wingdings" pitchFamily="2" charset="2"/>
              </a:rPr>
              <a:t>  «</a:t>
            </a:r>
            <a:r>
              <a:rPr lang="ar-MA" sz="51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ar-MA" sz="5100" b="1" dirty="0" smtClean="0">
                <a:solidFill>
                  <a:srgbClr val="FF0000"/>
                </a:solidFill>
                <a:sym typeface="Wingdings" pitchFamily="2" charset="2"/>
              </a:rPr>
              <a:t>من أجل امتداد حضاري و</a:t>
            </a:r>
            <a:r>
              <a:rPr lang="ar-MA" sz="5100" dirty="0">
                <a:sym typeface="Wingdings" pitchFamily="2" charset="2"/>
              </a:rPr>
              <a:t> « </a:t>
            </a:r>
            <a:r>
              <a:rPr lang="ar-MA" sz="5100" b="1" dirty="0" smtClean="0">
                <a:solidFill>
                  <a:srgbClr val="FF0000"/>
                </a:solidFill>
                <a:sym typeface="Wingdings" pitchFamily="2" charset="2"/>
              </a:rPr>
              <a:t>إظهار ثقافي</a:t>
            </a:r>
            <a:r>
              <a:rPr lang="ar-MA" sz="5100" dirty="0">
                <a:sym typeface="Wingdings" pitchFamily="2" charset="2"/>
              </a:rPr>
              <a:t>»</a:t>
            </a:r>
          </a:p>
          <a:p>
            <a:pPr marL="0" indent="0" algn="r">
              <a:buNone/>
            </a:pPr>
            <a:r>
              <a:rPr lang="ar-MA" sz="5100" dirty="0" smtClean="0"/>
              <a:t> </a:t>
            </a:r>
          </a:p>
          <a:p>
            <a:pPr marL="0" indent="0" algn="r">
              <a:buNone/>
            </a:pPr>
            <a:r>
              <a:rPr lang="ar-MA" sz="5100" b="1" dirty="0" smtClean="0">
                <a:sym typeface="Wingdings" pitchFamily="2" charset="2"/>
              </a:rPr>
              <a:t>- التمايز المغربي ( ما الذي يجعل من المغربي مغربيا؟</a:t>
            </a:r>
          </a:p>
          <a:p>
            <a:pPr marL="0" indent="0" algn="r">
              <a:buNone/>
            </a:pPr>
            <a:r>
              <a:rPr lang="ar-MA" sz="5100" b="1" dirty="0" smtClean="0">
                <a:sym typeface="Wingdings" pitchFamily="2" charset="2"/>
              </a:rPr>
              <a:t>- المغرب المتعدد  والمتعايش ( الأمازيغي، العربي، الإفريقي، الموريسكي)</a:t>
            </a:r>
          </a:p>
          <a:p>
            <a:pPr marL="0" indent="0" algn="r">
              <a:buNone/>
            </a:pPr>
            <a:endParaRPr lang="ar-MA" sz="5100" b="1" dirty="0" smtClean="0"/>
          </a:p>
          <a:p>
            <a:pPr marL="0" indent="0" algn="r">
              <a:buNone/>
            </a:pPr>
            <a:r>
              <a:rPr lang="ar-MA" sz="5100" b="1" dirty="0"/>
              <a:t> </a:t>
            </a:r>
            <a:r>
              <a:rPr lang="ar-MA" sz="5100" b="1" dirty="0" smtClean="0"/>
              <a:t>       حقيبة </a:t>
            </a:r>
            <a:r>
              <a:rPr lang="ar-MA" sz="5100" b="1" dirty="0" err="1"/>
              <a:t>هوياتية</a:t>
            </a:r>
            <a:r>
              <a:rPr lang="ar-MA" sz="5100" b="1" dirty="0">
                <a:sym typeface="Wingdings" pitchFamily="2" charset="2"/>
              </a:rPr>
              <a:t> ( الانسان، اللغة، </a:t>
            </a:r>
            <a:r>
              <a:rPr lang="ar-MA" sz="5100" b="1" dirty="0" smtClean="0">
                <a:sym typeface="Wingdings" pitchFamily="2" charset="2"/>
              </a:rPr>
              <a:t>الأمة):</a:t>
            </a:r>
          </a:p>
          <a:p>
            <a:pPr marL="0" indent="0" algn="r">
              <a:buNone/>
            </a:pPr>
            <a:r>
              <a:rPr lang="ar-MA" sz="5100" b="1" dirty="0" smtClean="0">
                <a:sym typeface="Wingdings" pitchFamily="2" charset="2"/>
              </a:rPr>
              <a:t>         </a:t>
            </a:r>
          </a:p>
          <a:p>
            <a:pPr marL="0" indent="0" algn="r">
              <a:buNone/>
            </a:pPr>
            <a:r>
              <a:rPr lang="ar-MA" sz="5100" b="1" dirty="0">
                <a:sym typeface="Wingdings" pitchFamily="2" charset="2"/>
              </a:rPr>
              <a:t> </a:t>
            </a:r>
            <a:r>
              <a:rPr lang="ar-MA" sz="5100" b="1" dirty="0" smtClean="0">
                <a:sym typeface="Wingdings" pitchFamily="2" charset="2"/>
              </a:rPr>
              <a:t>         « </a:t>
            </a:r>
            <a:r>
              <a:rPr lang="ar-MA" sz="5100" b="1" dirty="0" err="1" smtClean="0">
                <a:sym typeface="Wingdings" pitchFamily="2" charset="2"/>
              </a:rPr>
              <a:t>تمغربيت</a:t>
            </a:r>
            <a:r>
              <a:rPr lang="ar-MA" sz="5100" b="1" dirty="0" smtClean="0">
                <a:sym typeface="Wingdings" pitchFamily="2" charset="2"/>
              </a:rPr>
              <a:t> تدبير للمشترك من أجل هوية مغربية </a:t>
            </a:r>
            <a:r>
              <a:rPr lang="ar-SA" sz="5100" b="1" dirty="0" smtClean="0"/>
              <a:t>وعقد </a:t>
            </a:r>
            <a:r>
              <a:rPr lang="ar-SA" sz="5100" b="1" dirty="0"/>
              <a:t>مجتمعي</a:t>
            </a:r>
            <a:r>
              <a:rPr lang="ar-MA" sz="5100" b="1" dirty="0" smtClean="0">
                <a:sym typeface="Wingdings" pitchFamily="2" charset="2"/>
              </a:rPr>
              <a:t>»</a:t>
            </a:r>
          </a:p>
          <a:p>
            <a:pPr marL="0" indent="0" algn="r">
              <a:buNone/>
            </a:pPr>
            <a:r>
              <a:rPr lang="ar-MA" sz="5100" b="1" dirty="0" smtClean="0">
                <a:sym typeface="Wingdings" pitchFamily="2" charset="2"/>
              </a:rPr>
              <a:t>         « نمط عيش واسلوب حياة»</a:t>
            </a:r>
          </a:p>
          <a:p>
            <a:pPr marL="0" indent="0" algn="r">
              <a:buNone/>
            </a:pPr>
            <a:r>
              <a:rPr lang="ar-MA" sz="5100" b="1" dirty="0" smtClean="0"/>
              <a:t>        « </a:t>
            </a:r>
            <a:r>
              <a:rPr lang="ar-MA" sz="5100" b="1" dirty="0" err="1"/>
              <a:t>تمغربيت</a:t>
            </a:r>
            <a:r>
              <a:rPr lang="ar-MA" sz="5100" b="1" dirty="0"/>
              <a:t> </a:t>
            </a:r>
            <a:r>
              <a:rPr lang="ar-MA" sz="5100" b="1" dirty="0" smtClean="0"/>
              <a:t>مرافعة </a:t>
            </a:r>
            <a:r>
              <a:rPr lang="ar-MA" sz="5100" b="1" dirty="0"/>
              <a:t>عن </a:t>
            </a:r>
            <a:r>
              <a:rPr lang="ar-MA" sz="5100" b="1" dirty="0" smtClean="0"/>
              <a:t>الوجود</a:t>
            </a:r>
            <a:r>
              <a:rPr lang="ar-MA" sz="5100" b="1" dirty="0" smtClean="0">
                <a:sym typeface="Wingdings" pitchFamily="2" charset="2"/>
              </a:rPr>
              <a:t>/ </a:t>
            </a:r>
            <a:r>
              <a:rPr lang="ar-MA" sz="5100" b="1" dirty="0">
                <a:sym typeface="Wingdings" pitchFamily="2" charset="2"/>
              </a:rPr>
              <a:t>الشهود </a:t>
            </a:r>
            <a:r>
              <a:rPr lang="ar-MA" sz="5100" b="1" dirty="0" smtClean="0"/>
              <a:t>ودخول </a:t>
            </a:r>
            <a:r>
              <a:rPr lang="ar-MA" sz="5100" b="1" dirty="0"/>
              <a:t>إلى العولمة من </a:t>
            </a:r>
            <a:r>
              <a:rPr lang="ar-MA" sz="5100" b="1" dirty="0" smtClean="0"/>
              <a:t>خلال الخصوصيات</a:t>
            </a:r>
            <a:r>
              <a:rPr lang="ar-MA" sz="5100" b="1" dirty="0"/>
              <a:t>، جسرنا الثقافي للدفاع عن الهوية</a:t>
            </a:r>
            <a:r>
              <a:rPr lang="ar-MA" sz="5100" b="1" dirty="0" smtClean="0"/>
              <a:t>»    </a:t>
            </a:r>
            <a:endParaRPr lang="fr-FR" sz="5100" b="1" dirty="0"/>
          </a:p>
          <a:p>
            <a:pPr marL="0" indent="0" algn="r">
              <a:buNone/>
            </a:pPr>
            <a:r>
              <a:rPr lang="ar-MA" sz="5100" b="1" dirty="0" smtClean="0"/>
              <a:t>         «</a:t>
            </a:r>
            <a:r>
              <a:rPr lang="ar-MA" sz="5100" b="1" dirty="0"/>
              <a:t> </a:t>
            </a:r>
            <a:r>
              <a:rPr lang="ar-MA" sz="5100" b="1" dirty="0" err="1" smtClean="0"/>
              <a:t>تمغربيت</a:t>
            </a:r>
            <a:r>
              <a:rPr lang="ar-MA" sz="5100" b="1" dirty="0" smtClean="0"/>
              <a:t> </a:t>
            </a:r>
            <a:r>
              <a:rPr lang="ar-SA" sz="5100" b="1" dirty="0" smtClean="0"/>
              <a:t>خيار </a:t>
            </a:r>
            <a:r>
              <a:rPr lang="ar-SA" sz="5100" b="1" dirty="0"/>
              <a:t>استراتيجي وثقافي ومؤسساتي وسياسي </a:t>
            </a:r>
            <a:r>
              <a:rPr lang="ar-SA" sz="5100" b="1" dirty="0" smtClean="0"/>
              <a:t>وإنساني وحضاري</a:t>
            </a:r>
            <a:r>
              <a:rPr lang="ar-MA" sz="5100" b="1" dirty="0" smtClean="0"/>
              <a:t>».</a:t>
            </a:r>
            <a:r>
              <a:rPr lang="ar-MA" sz="5100" b="1" dirty="0" smtClean="0">
                <a:sym typeface="Wingdings" pitchFamily="2" charset="2"/>
              </a:rPr>
              <a:t> </a:t>
            </a:r>
            <a:endParaRPr lang="fr-FR" sz="5100" b="1" dirty="0"/>
          </a:p>
        </p:txBody>
      </p:sp>
    </p:spTree>
    <p:extLst>
      <p:ext uri="{BB962C8B-B14F-4D97-AF65-F5344CB8AC3E}">
        <p14:creationId xmlns:p14="http://schemas.microsoft.com/office/powerpoint/2010/main" val="58317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MA" dirty="0" smtClean="0"/>
              <a:t> و</a:t>
            </a:r>
            <a:r>
              <a:rPr lang="ar-MA" dirty="0" smtClean="0">
                <a:solidFill>
                  <a:srgbClr val="FF0000"/>
                </a:solidFill>
              </a:rPr>
              <a:t>الثقافة</a:t>
            </a:r>
            <a:r>
              <a:rPr lang="ar-MA" dirty="0" smtClean="0"/>
              <a:t> </a:t>
            </a:r>
            <a:r>
              <a:rPr lang="ar-MA" dirty="0" smtClean="0">
                <a:solidFill>
                  <a:srgbClr val="FF0000"/>
                </a:solidFill>
              </a:rPr>
              <a:t>التنموية</a:t>
            </a:r>
            <a:r>
              <a:rPr lang="fr-FR" b="1" dirty="0" smtClean="0"/>
              <a:t>le </a:t>
            </a:r>
            <a:r>
              <a:rPr lang="fr-FR" b="1" dirty="0"/>
              <a:t>patriotisme </a:t>
            </a:r>
            <a:r>
              <a:rPr lang="ar-MA" b="1" dirty="0" smtClean="0"/>
              <a:t>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19256" cy="4857403"/>
          </a:xfrm>
        </p:spPr>
        <p:txBody>
          <a:bodyPr>
            <a:normAutofit fontScale="70000" lnSpcReduction="20000"/>
          </a:bodyPr>
          <a:lstStyle/>
          <a:p>
            <a:pPr marL="0" indent="0" algn="r">
              <a:buNone/>
            </a:pPr>
            <a:r>
              <a:rPr lang="ar-MA" dirty="0" smtClean="0">
                <a:solidFill>
                  <a:schemeClr val="tx2"/>
                </a:solidFill>
              </a:rPr>
              <a:t>- </a:t>
            </a:r>
            <a:r>
              <a:rPr lang="ar-MA" b="1" dirty="0" smtClean="0">
                <a:solidFill>
                  <a:schemeClr val="tx2"/>
                </a:solidFill>
              </a:rPr>
              <a:t>كيف نحمي </a:t>
            </a:r>
            <a:r>
              <a:rPr lang="ar-MA" b="1" dirty="0" err="1" smtClean="0">
                <a:solidFill>
                  <a:schemeClr val="tx2"/>
                </a:solidFill>
              </a:rPr>
              <a:t>تمغربيتنا</a:t>
            </a:r>
            <a:r>
              <a:rPr lang="ar-MA" b="1" dirty="0" smtClean="0">
                <a:solidFill>
                  <a:schemeClr val="tx2"/>
                </a:solidFill>
              </a:rPr>
              <a:t>  ؟ </a:t>
            </a:r>
          </a:p>
          <a:p>
            <a:pPr marL="0" indent="0" algn="r">
              <a:buNone/>
            </a:pPr>
            <a:r>
              <a:rPr lang="ar-MA" b="1" dirty="0" smtClean="0">
                <a:solidFill>
                  <a:schemeClr val="tx2"/>
                </a:solidFill>
              </a:rPr>
              <a:t>- كيف تكون منتجة للثروة؟ </a:t>
            </a:r>
          </a:p>
          <a:p>
            <a:pPr marL="0" indent="0" algn="r">
              <a:buNone/>
            </a:pPr>
            <a:r>
              <a:rPr lang="ar-MA" b="1" dirty="0" smtClean="0">
                <a:solidFill>
                  <a:schemeClr val="tx2"/>
                </a:solidFill>
              </a:rPr>
              <a:t>- كيف تحقق التماسك الاجتماعي؟ </a:t>
            </a:r>
          </a:p>
          <a:p>
            <a:pPr algn="just"/>
            <a:endParaRPr lang="ar-MA" b="1" dirty="0">
              <a:solidFill>
                <a:schemeClr val="tx2"/>
              </a:solidFill>
            </a:endParaRPr>
          </a:p>
          <a:p>
            <a:pPr marL="0" indent="0" algn="r">
              <a:buNone/>
            </a:pPr>
            <a:r>
              <a:rPr lang="ar-MA" b="1" dirty="0" smtClean="0"/>
              <a:t>- </a:t>
            </a:r>
            <a:r>
              <a:rPr lang="ar-MA" b="1" dirty="0" smtClean="0">
                <a:solidFill>
                  <a:schemeClr val="tx2"/>
                </a:solidFill>
              </a:rPr>
              <a:t>لابد</a:t>
            </a:r>
            <a:r>
              <a:rPr lang="ar-MA" b="1" dirty="0" smtClean="0"/>
              <a:t> من </a:t>
            </a:r>
            <a:r>
              <a:rPr lang="ar-MA" b="1" dirty="0" smtClean="0">
                <a:solidFill>
                  <a:srgbClr val="FF0000"/>
                </a:solidFill>
              </a:rPr>
              <a:t>«قيم الثقافة التنموية»:</a:t>
            </a:r>
          </a:p>
          <a:p>
            <a:pPr algn="r" rtl="1"/>
            <a:r>
              <a:rPr lang="ar-SA" b="1" dirty="0" smtClean="0"/>
              <a:t>ف</a:t>
            </a:r>
            <a:r>
              <a:rPr lang="ar-MA" b="1" dirty="0" smtClean="0"/>
              <a:t>ل</a:t>
            </a:r>
            <a:r>
              <a:rPr lang="ar-SA" b="1" dirty="0" smtClean="0"/>
              <a:t>ا </a:t>
            </a:r>
            <a:r>
              <a:rPr lang="ar-MA" b="1" dirty="0" smtClean="0"/>
              <a:t>ثقافة</a:t>
            </a:r>
            <a:r>
              <a:rPr lang="ar-SA" b="1" dirty="0" smtClean="0"/>
              <a:t> تنموي</a:t>
            </a:r>
            <a:r>
              <a:rPr lang="ar-MA" b="1" dirty="0" smtClean="0"/>
              <a:t>ة</a:t>
            </a:r>
            <a:r>
              <a:rPr lang="ar-SA" b="1" dirty="0" smtClean="0"/>
              <a:t> </a:t>
            </a:r>
            <a:r>
              <a:rPr lang="ar-SA" b="1" dirty="0"/>
              <a:t>بدون تكريم </a:t>
            </a:r>
            <a:r>
              <a:rPr lang="ar-SA" b="1" dirty="0" smtClean="0"/>
              <a:t>الإنسان</a:t>
            </a:r>
            <a:r>
              <a:rPr lang="ar-MA" b="1" dirty="0" smtClean="0"/>
              <a:t> ( الاعتماد على الذات )</a:t>
            </a:r>
            <a:endParaRPr lang="fr-FR" dirty="0"/>
          </a:p>
          <a:p>
            <a:pPr algn="r" rtl="1"/>
            <a:r>
              <a:rPr lang="ar-SA" b="1" dirty="0" smtClean="0"/>
              <a:t> </a:t>
            </a:r>
            <a:r>
              <a:rPr lang="ar-SA" b="1" dirty="0"/>
              <a:t>لا </a:t>
            </a:r>
            <a:r>
              <a:rPr lang="ar-MA" b="1" dirty="0" smtClean="0"/>
              <a:t>ثقافة تنموية</a:t>
            </a:r>
            <a:r>
              <a:rPr lang="ar-SA" b="1" dirty="0" smtClean="0"/>
              <a:t> </a:t>
            </a:r>
            <a:r>
              <a:rPr lang="ar-SA" b="1" dirty="0"/>
              <a:t>بدون </a:t>
            </a:r>
            <a:r>
              <a:rPr lang="ar-SA" b="1" dirty="0" smtClean="0"/>
              <a:t>ديمقراطية</a:t>
            </a:r>
            <a:endParaRPr lang="fr-FR" dirty="0"/>
          </a:p>
          <a:p>
            <a:pPr algn="r" rtl="1"/>
            <a:r>
              <a:rPr lang="ar-SA" b="1" dirty="0" smtClean="0"/>
              <a:t>لا </a:t>
            </a:r>
            <a:r>
              <a:rPr lang="ar-MA" b="1" dirty="0" smtClean="0"/>
              <a:t>ثقافة </a:t>
            </a:r>
            <a:r>
              <a:rPr lang="ar-SA" b="1" dirty="0" smtClean="0"/>
              <a:t>تنموي</a:t>
            </a:r>
            <a:r>
              <a:rPr lang="ar-MA" b="1" dirty="0" smtClean="0"/>
              <a:t>ة</a:t>
            </a:r>
            <a:r>
              <a:rPr lang="ar-SA" b="1" dirty="0" smtClean="0"/>
              <a:t> </a:t>
            </a:r>
            <a:r>
              <a:rPr lang="ar-SA" b="1" dirty="0"/>
              <a:t>بدون تحرير </a:t>
            </a:r>
            <a:r>
              <a:rPr lang="ar-SA" b="1" dirty="0" smtClean="0"/>
              <a:t>فلاحي</a:t>
            </a:r>
            <a:endParaRPr lang="fr-FR" dirty="0"/>
          </a:p>
          <a:p>
            <a:pPr algn="r" rtl="1"/>
            <a:r>
              <a:rPr lang="ar-SA" b="1" dirty="0"/>
              <a:t> </a:t>
            </a:r>
            <a:r>
              <a:rPr lang="ar-SA" b="1" dirty="0" smtClean="0"/>
              <a:t>لا </a:t>
            </a:r>
            <a:r>
              <a:rPr lang="ar-MA" b="1" dirty="0" smtClean="0"/>
              <a:t>ثقافة </a:t>
            </a:r>
            <a:r>
              <a:rPr lang="ar-SA" b="1" dirty="0" smtClean="0"/>
              <a:t>تنموي</a:t>
            </a:r>
            <a:r>
              <a:rPr lang="ar-MA" b="1" dirty="0" smtClean="0"/>
              <a:t>ة</a:t>
            </a:r>
            <a:r>
              <a:rPr lang="ar-SA" b="1" dirty="0" smtClean="0"/>
              <a:t> </a:t>
            </a:r>
            <a:r>
              <a:rPr lang="ar-SA" b="1" dirty="0"/>
              <a:t>بدون صناعة </a:t>
            </a:r>
            <a:r>
              <a:rPr lang="ar-SA" b="1" dirty="0" smtClean="0"/>
              <a:t>وطنية</a:t>
            </a:r>
            <a:endParaRPr lang="fr-FR" dirty="0"/>
          </a:p>
          <a:p>
            <a:pPr algn="r" rtl="1"/>
            <a:r>
              <a:rPr lang="ar-SA" b="1" dirty="0" smtClean="0"/>
              <a:t>لا </a:t>
            </a:r>
            <a:r>
              <a:rPr lang="ar-MA" b="1" dirty="0" smtClean="0"/>
              <a:t>ثقافة </a:t>
            </a:r>
            <a:r>
              <a:rPr lang="ar-SA" b="1" dirty="0" smtClean="0"/>
              <a:t>تنموي</a:t>
            </a:r>
            <a:r>
              <a:rPr lang="ar-MA" b="1" dirty="0" smtClean="0"/>
              <a:t>ة</a:t>
            </a:r>
            <a:r>
              <a:rPr lang="ar-SA" b="1" dirty="0" smtClean="0"/>
              <a:t> </a:t>
            </a:r>
            <a:r>
              <a:rPr lang="ar-SA" b="1" dirty="0"/>
              <a:t>دون هوية </a:t>
            </a:r>
            <a:r>
              <a:rPr lang="ar-SA" b="1" dirty="0" smtClean="0"/>
              <a:t>ثقافية</a:t>
            </a:r>
            <a:endParaRPr lang="ar-MA" b="1" dirty="0" smtClean="0"/>
          </a:p>
          <a:p>
            <a:pPr algn="r" rtl="1"/>
            <a:endParaRPr lang="fr-FR" dirty="0"/>
          </a:p>
          <a:p>
            <a:pPr marL="0" indent="0" algn="r">
              <a:buNone/>
            </a:pPr>
            <a:r>
              <a:rPr lang="ar-MA" b="1" dirty="0"/>
              <a:t>- </a:t>
            </a:r>
            <a:r>
              <a:rPr lang="ar-MA" b="1" dirty="0">
                <a:solidFill>
                  <a:schemeClr val="tx2"/>
                </a:solidFill>
              </a:rPr>
              <a:t>لابد</a:t>
            </a:r>
            <a:r>
              <a:rPr lang="ar-MA" b="1" dirty="0"/>
              <a:t> من « استراتيجية وطنية تنموية»</a:t>
            </a:r>
            <a:r>
              <a:rPr lang="ar-MA" b="1" dirty="0">
                <a:solidFill>
                  <a:srgbClr val="FF0000"/>
                </a:solidFill>
              </a:rPr>
              <a:t>، </a:t>
            </a:r>
            <a:r>
              <a:rPr lang="ar-SA" b="1" dirty="0"/>
              <a:t>مزيج</a:t>
            </a:r>
            <a:r>
              <a:rPr lang="ar-MA" b="1" dirty="0"/>
              <a:t> يحتضن </a:t>
            </a:r>
            <a:r>
              <a:rPr lang="ar-SA" b="1" dirty="0"/>
              <a:t>نماذج وطنية </a:t>
            </a:r>
            <a:r>
              <a:rPr lang="ar-MA" b="1" dirty="0"/>
              <a:t> </a:t>
            </a:r>
            <a:r>
              <a:rPr lang="ar-SA" b="1" dirty="0"/>
              <a:t>أفقية وأخرى ترابية جهوية </a:t>
            </a:r>
            <a:r>
              <a:rPr lang="ar-SA" b="1" dirty="0" smtClean="0"/>
              <a:t>عمودية</a:t>
            </a:r>
            <a:r>
              <a:rPr lang="ar-MA" b="1" dirty="0" smtClean="0"/>
              <a:t>، </a:t>
            </a:r>
            <a:r>
              <a:rPr lang="ar-MA" b="1" dirty="0"/>
              <a:t>«اندماج محلي بالوطني». </a:t>
            </a:r>
            <a:r>
              <a:rPr lang="ar-MA" b="1" dirty="0">
                <a:solidFill>
                  <a:srgbClr val="FF0000"/>
                </a:solidFill>
              </a:rPr>
              <a:t> </a:t>
            </a:r>
            <a:r>
              <a:rPr lang="ar-MA" b="1" dirty="0" smtClean="0">
                <a:solidFill>
                  <a:srgbClr val="FF0000"/>
                </a:solidFill>
              </a:rPr>
              <a:t>« المعسول المغربي» </a:t>
            </a:r>
            <a:endParaRPr lang="ar-MA" b="1" dirty="0">
              <a:solidFill>
                <a:srgbClr val="FF0000"/>
              </a:solidFill>
            </a:endParaRPr>
          </a:p>
          <a:p>
            <a:pPr algn="r">
              <a:buFontTx/>
              <a:buChar char="-"/>
            </a:pPr>
            <a:endParaRPr lang="ar-MA" dirty="0" smtClean="0">
              <a:solidFill>
                <a:schemeClr val="tx2"/>
              </a:solidFill>
            </a:endParaRPr>
          </a:p>
          <a:p>
            <a:pPr algn="r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881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MA" b="1" dirty="0">
                <a:solidFill>
                  <a:srgbClr val="FF0000"/>
                </a:solidFill>
              </a:rPr>
              <a:t>الت</a:t>
            </a:r>
            <a:r>
              <a:rPr lang="ar-SA" b="1" dirty="0" err="1">
                <a:solidFill>
                  <a:srgbClr val="FF0000"/>
                </a:solidFill>
              </a:rPr>
              <a:t>مَغْرِبِيتْ</a:t>
            </a:r>
            <a:r>
              <a:rPr lang="ar-SA" b="1" dirty="0">
                <a:solidFill>
                  <a:srgbClr val="FF0000"/>
                </a:solidFill>
              </a:rPr>
              <a:t> التنموي</a:t>
            </a:r>
            <a:r>
              <a:rPr lang="ar-MA" b="1" dirty="0" smtClean="0">
                <a:solidFill>
                  <a:srgbClr val="FF0000"/>
                </a:solidFill>
              </a:rPr>
              <a:t>ة « </a:t>
            </a:r>
            <a:r>
              <a:rPr lang="ar-MA" b="1" dirty="0" err="1" smtClean="0">
                <a:solidFill>
                  <a:srgbClr val="FF0000"/>
                </a:solidFill>
              </a:rPr>
              <a:t>العموقية</a:t>
            </a:r>
            <a:r>
              <a:rPr lang="ar-MA" b="1" dirty="0" smtClean="0">
                <a:solidFill>
                  <a:srgbClr val="FF0000"/>
                </a:solidFill>
              </a:rPr>
              <a:t> »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19256" cy="4857403"/>
          </a:xfrm>
        </p:spPr>
        <p:txBody>
          <a:bodyPr>
            <a:normAutofit fontScale="55000" lnSpcReduction="20000"/>
          </a:bodyPr>
          <a:lstStyle/>
          <a:p>
            <a:pPr marL="0" indent="0" algn="r">
              <a:buNone/>
            </a:pPr>
            <a:endParaRPr lang="ar-MA" b="1" dirty="0" smtClean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ar-SA" sz="4400" b="1" dirty="0" err="1" smtClean="0"/>
              <a:t>تَمَغْرِبِيتْ</a:t>
            </a:r>
            <a:r>
              <a:rPr lang="ar-SA" sz="4400" b="1" dirty="0" smtClean="0"/>
              <a:t> </a:t>
            </a:r>
            <a:r>
              <a:rPr lang="ar-SA" sz="4400" b="1" dirty="0"/>
              <a:t>ترتبط ب</a:t>
            </a:r>
            <a:r>
              <a:rPr lang="ar-SA" sz="4400" b="1" dirty="0">
                <a:solidFill>
                  <a:srgbClr val="FF0000"/>
                </a:solidFill>
              </a:rPr>
              <a:t>طريقة عمودية وأفقية </a:t>
            </a:r>
            <a:r>
              <a:rPr lang="ar-SA" sz="4400" b="1" dirty="0"/>
              <a:t>بجميع مناحي حياة المغاربة</a:t>
            </a:r>
            <a:r>
              <a:rPr lang="ar-MA" sz="4400" b="1" dirty="0"/>
              <a:t>:</a:t>
            </a:r>
          </a:p>
          <a:p>
            <a:pPr marL="0" indent="0" algn="r">
              <a:buNone/>
            </a:pPr>
            <a:r>
              <a:rPr lang="ar-SA" sz="4400" b="1" dirty="0"/>
              <a:t>ب</a:t>
            </a:r>
            <a:r>
              <a:rPr lang="ar-MA" sz="4400" b="1" dirty="0"/>
              <a:t>ال</a:t>
            </a:r>
            <a:r>
              <a:rPr lang="ar-SA" sz="4400" b="1" dirty="0"/>
              <a:t>تصورات و</a:t>
            </a:r>
            <a:r>
              <a:rPr lang="ar-MA" sz="4400" b="1" dirty="0"/>
              <a:t>ال</a:t>
            </a:r>
            <a:r>
              <a:rPr lang="ar-SA" sz="4400" b="1" dirty="0"/>
              <a:t>مواقف حول الشخصية المغربية ومقولة الأمة المغربية والتنوع والتعدد والبيئة الثقافية والدينامية المجتمعية </a:t>
            </a:r>
            <a:r>
              <a:rPr lang="ar-SA" sz="4400" b="1" dirty="0" err="1"/>
              <a:t>والتمظهرات</a:t>
            </a:r>
            <a:r>
              <a:rPr lang="ar-SA" sz="4400" b="1" dirty="0"/>
              <a:t> </a:t>
            </a:r>
            <a:r>
              <a:rPr lang="ar-SA" sz="4400" b="1" dirty="0" err="1"/>
              <a:t>الهوياتية</a:t>
            </a:r>
            <a:r>
              <a:rPr lang="ar-MA" sz="4400" b="1" dirty="0"/>
              <a:t> (</a:t>
            </a:r>
            <a:r>
              <a:rPr lang="ar-SA" sz="4400" b="1" dirty="0"/>
              <a:t>الطقوس </a:t>
            </a:r>
            <a:r>
              <a:rPr lang="ar-MA" sz="4400" b="1" dirty="0"/>
              <a:t>واللباس والأكل ... )</a:t>
            </a:r>
          </a:p>
          <a:p>
            <a:pPr marL="0" indent="0" algn="r">
              <a:buNone/>
            </a:pPr>
            <a:endParaRPr lang="ar-MA" sz="4400" b="1" dirty="0" smtClean="0"/>
          </a:p>
          <a:p>
            <a:pPr marL="0" indent="0" algn="r">
              <a:buNone/>
            </a:pPr>
            <a:r>
              <a:rPr lang="ar-MA" sz="4400" b="1" dirty="0" smtClean="0">
                <a:solidFill>
                  <a:srgbClr val="FF0000"/>
                </a:solidFill>
              </a:rPr>
              <a:t>أفق واقعي : ت</a:t>
            </a:r>
            <a:r>
              <a:rPr lang="ar-SA" sz="4400" b="1" dirty="0" err="1" smtClean="0">
                <a:solidFill>
                  <a:srgbClr val="FF0000"/>
                </a:solidFill>
              </a:rPr>
              <a:t>مَغْرِبِيتْ</a:t>
            </a:r>
            <a:r>
              <a:rPr lang="ar-SA" sz="4400" b="1" dirty="0" smtClean="0">
                <a:solidFill>
                  <a:srgbClr val="FF0000"/>
                </a:solidFill>
              </a:rPr>
              <a:t> </a:t>
            </a:r>
            <a:r>
              <a:rPr lang="ar-SA" sz="4400" b="1" dirty="0" err="1">
                <a:solidFill>
                  <a:srgbClr val="FF0000"/>
                </a:solidFill>
              </a:rPr>
              <a:t>ديجيتالية</a:t>
            </a:r>
            <a:r>
              <a:rPr lang="ar-SA" sz="4400" b="1" dirty="0">
                <a:solidFill>
                  <a:srgbClr val="FF0000"/>
                </a:solidFill>
              </a:rPr>
              <a:t> </a:t>
            </a:r>
            <a:r>
              <a:rPr lang="ar-SA" sz="4400" b="1" dirty="0"/>
              <a:t>(</a:t>
            </a:r>
            <a:r>
              <a:rPr lang="ar-SA" sz="4400" b="1" dirty="0" err="1"/>
              <a:t>نْيُوتَمَغْرِبِيتْ</a:t>
            </a:r>
            <a:r>
              <a:rPr lang="ar-SA" sz="4400" b="1" dirty="0"/>
              <a:t>)</a:t>
            </a:r>
            <a:r>
              <a:rPr lang="ar-MA" sz="4400" b="1" dirty="0"/>
              <a:t>:</a:t>
            </a:r>
            <a:r>
              <a:rPr lang="ar-SA" sz="4400" b="1" dirty="0"/>
              <a:t>التحول من </a:t>
            </a:r>
            <a:r>
              <a:rPr lang="ar-MA" sz="4400" b="1" dirty="0">
                <a:solidFill>
                  <a:schemeClr val="tx2"/>
                </a:solidFill>
              </a:rPr>
              <a:t>ت</a:t>
            </a:r>
            <a:r>
              <a:rPr lang="ar-SA" sz="4400" b="1" dirty="0">
                <a:solidFill>
                  <a:schemeClr val="tx2"/>
                </a:solidFill>
              </a:rPr>
              <a:t>رابط اجتماعي واقعي</a:t>
            </a:r>
            <a:r>
              <a:rPr lang="ar-SA" sz="4400" b="1" dirty="0"/>
              <a:t> </a:t>
            </a:r>
            <a:endParaRPr lang="ar-MA" sz="4400" b="1" dirty="0" smtClean="0"/>
          </a:p>
          <a:p>
            <a:pPr marL="0" indent="0" algn="r">
              <a:buNone/>
            </a:pPr>
            <a:r>
              <a:rPr lang="ar-SA" sz="4400" b="1" dirty="0" smtClean="0"/>
              <a:t>إلى </a:t>
            </a:r>
            <a:r>
              <a:rPr lang="ar-MA" sz="4400" b="1" dirty="0">
                <a:solidFill>
                  <a:schemeClr val="tx2"/>
                </a:solidFill>
              </a:rPr>
              <a:t>رابط</a:t>
            </a:r>
            <a:r>
              <a:rPr lang="ar-SA" sz="4400" b="1" dirty="0">
                <a:solidFill>
                  <a:schemeClr val="tx2"/>
                </a:solidFill>
              </a:rPr>
              <a:t> مجتمعي افتراضي</a:t>
            </a:r>
            <a:r>
              <a:rPr lang="ar-MA" sz="4400" b="1" dirty="0"/>
              <a:t>.</a:t>
            </a:r>
            <a:r>
              <a:rPr lang="ar-SA" sz="4400" b="1" dirty="0"/>
              <a:t> </a:t>
            </a:r>
            <a:endParaRPr lang="ar-MA" sz="4400" b="1" dirty="0"/>
          </a:p>
          <a:p>
            <a:pPr marL="0" indent="0" algn="r">
              <a:buNone/>
            </a:pPr>
            <a:r>
              <a:rPr lang="ar-MA" sz="4400" b="1" dirty="0"/>
              <a:t>لابد من</a:t>
            </a:r>
            <a:r>
              <a:rPr lang="ar-SA" sz="4400" b="1" dirty="0"/>
              <a:t> </a:t>
            </a:r>
            <a:r>
              <a:rPr lang="ar-MA" sz="4400" b="1" dirty="0"/>
              <a:t>«</a:t>
            </a:r>
            <a:r>
              <a:rPr lang="ar-SA" sz="4400" b="1" dirty="0">
                <a:solidFill>
                  <a:srgbClr val="FF0000"/>
                </a:solidFill>
              </a:rPr>
              <a:t>تعاقد قيمي</a:t>
            </a:r>
            <a:r>
              <a:rPr lang="ar-MA" sz="4400" b="1" dirty="0"/>
              <a:t>»</a:t>
            </a:r>
            <a:r>
              <a:rPr lang="ar-SA" sz="4400" b="1" dirty="0"/>
              <a:t> </a:t>
            </a:r>
            <a:r>
              <a:rPr lang="ar-MA" sz="4400" b="1" dirty="0"/>
              <a:t>للربط بين الترابط والرابط .</a:t>
            </a:r>
            <a:endParaRPr lang="ar-MA" sz="4400" dirty="0" smtClean="0"/>
          </a:p>
          <a:p>
            <a:pPr marL="0" indent="0" algn="r">
              <a:buNone/>
            </a:pPr>
            <a:endParaRPr lang="ar-MA" sz="4400" dirty="0"/>
          </a:p>
          <a:p>
            <a:pPr marL="0" indent="0" algn="r">
              <a:buNone/>
            </a:pPr>
            <a:r>
              <a:rPr lang="ar-MA" sz="4400" b="1" dirty="0" smtClean="0"/>
              <a:t>«</a:t>
            </a:r>
            <a:r>
              <a:rPr lang="ar-MA" sz="4400" b="1" dirty="0" err="1"/>
              <a:t>تمغربيت</a:t>
            </a:r>
            <a:r>
              <a:rPr lang="ar-MA" sz="4400" b="1" dirty="0"/>
              <a:t> تنموية» جمع بين </a:t>
            </a:r>
            <a:r>
              <a:rPr lang="ar-SA" sz="4400" b="1" dirty="0">
                <a:solidFill>
                  <a:srgbClr val="FF0000"/>
                </a:solidFill>
              </a:rPr>
              <a:t>ال</a:t>
            </a:r>
            <a:r>
              <a:rPr lang="ar-MA" sz="4400" b="1" dirty="0">
                <a:solidFill>
                  <a:srgbClr val="FF0000"/>
                </a:solidFill>
              </a:rPr>
              <a:t>طاقات</a:t>
            </a:r>
            <a:r>
              <a:rPr lang="ar-SA" sz="4400" b="1" dirty="0">
                <a:solidFill>
                  <a:srgbClr val="FF0000"/>
                </a:solidFill>
              </a:rPr>
              <a:t> </a:t>
            </a:r>
            <a:r>
              <a:rPr lang="ar-SA" sz="4400" b="1" dirty="0" smtClean="0">
                <a:solidFill>
                  <a:srgbClr val="FF0000"/>
                </a:solidFill>
              </a:rPr>
              <a:t>الصلبة</a:t>
            </a:r>
            <a:r>
              <a:rPr lang="ar-MA" sz="4400" b="1" dirty="0" smtClean="0">
                <a:solidFill>
                  <a:srgbClr val="FF0000"/>
                </a:solidFill>
              </a:rPr>
              <a:t> ( القوى )</a:t>
            </a:r>
            <a:r>
              <a:rPr lang="ar-SA" sz="4400" b="1" dirty="0" smtClean="0">
                <a:solidFill>
                  <a:srgbClr val="FF0000"/>
                </a:solidFill>
              </a:rPr>
              <a:t> </a:t>
            </a:r>
            <a:r>
              <a:rPr lang="ar-MA" sz="4400" b="1" dirty="0" smtClean="0"/>
              <a:t>و</a:t>
            </a:r>
            <a:r>
              <a:rPr lang="ar-MA" sz="4400" b="1" dirty="0" smtClean="0">
                <a:solidFill>
                  <a:srgbClr val="FF0000"/>
                </a:solidFill>
              </a:rPr>
              <a:t>الناعمة</a:t>
            </a:r>
            <a:r>
              <a:rPr lang="ar-SA" sz="4400" b="1" dirty="0"/>
              <a:t>، </a:t>
            </a:r>
            <a:r>
              <a:rPr lang="ar-MA" sz="4400" b="1" dirty="0"/>
              <a:t> </a:t>
            </a:r>
            <a:r>
              <a:rPr lang="ar-SA" sz="4400" b="1" dirty="0"/>
              <a:t>في شكل "جواز هوياتي" للعبور </a:t>
            </a:r>
            <a:r>
              <a:rPr lang="ar-MA" sz="4400" b="1" dirty="0"/>
              <a:t>إلى ا</a:t>
            </a:r>
            <a:r>
              <a:rPr lang="ar-SA" sz="4400" b="1" dirty="0"/>
              <a:t>لعولمة، والتعاون مع بلدان </a:t>
            </a:r>
            <a:r>
              <a:rPr lang="ar-SA" sz="4400" b="1" dirty="0" smtClean="0"/>
              <a:t>الجوار</a:t>
            </a:r>
            <a:r>
              <a:rPr lang="ar-SA" sz="4400" b="1" dirty="0"/>
              <a:t>، </a:t>
            </a:r>
            <a:r>
              <a:rPr lang="ar-MA" sz="4400" b="1" dirty="0"/>
              <a:t>من أجل مغرب </a:t>
            </a:r>
            <a:r>
              <a:rPr lang="ar-SA" sz="4400" b="1" dirty="0"/>
              <a:t>كبير وإشعاع </a:t>
            </a:r>
            <a:r>
              <a:rPr lang="ar-SA" sz="4400" b="1" dirty="0" err="1"/>
              <a:t>إفريق</a:t>
            </a:r>
            <a:r>
              <a:rPr lang="ar-MA" sz="4400" b="1" dirty="0"/>
              <a:t>ي.</a:t>
            </a:r>
          </a:p>
          <a:p>
            <a:pPr marL="0" indent="0" algn="r">
              <a:buNone/>
            </a:pPr>
            <a:r>
              <a:rPr lang="ar-MA" b="1" dirty="0" smtClean="0"/>
              <a:t> </a:t>
            </a:r>
            <a:r>
              <a:rPr lang="ar-SA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277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smtClean="0"/>
              <a:t>patriotisme</a:t>
            </a:r>
            <a:r>
              <a:rPr lang="ar-MA" dirty="0" err="1" smtClean="0"/>
              <a:t>تمغربيت</a:t>
            </a:r>
            <a:r>
              <a:rPr lang="ar-MA" dirty="0" smtClean="0"/>
              <a:t> </a:t>
            </a:r>
            <a:r>
              <a:rPr lang="fr-FR" dirty="0" smtClean="0"/>
              <a:t> et Soft </a:t>
            </a:r>
            <a:r>
              <a:rPr lang="fr-FR" dirty="0" err="1" smtClean="0"/>
              <a:t>skills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268760"/>
            <a:ext cx="8280920" cy="5246043"/>
          </a:xfrm>
        </p:spPr>
        <p:txBody>
          <a:bodyPr>
            <a:normAutofit fontScale="92500" lnSpcReduction="20000"/>
          </a:bodyPr>
          <a:lstStyle/>
          <a:p>
            <a:pPr marL="0" indent="0" algn="r">
              <a:buNone/>
            </a:pPr>
            <a:r>
              <a:rPr lang="ar-MA" dirty="0" smtClean="0"/>
              <a:t>« </a:t>
            </a:r>
            <a:r>
              <a:rPr lang="ar-MA" dirty="0" err="1" smtClean="0"/>
              <a:t>تمغربيت</a:t>
            </a:r>
            <a:r>
              <a:rPr lang="ar-MA" dirty="0" smtClean="0"/>
              <a:t>» </a:t>
            </a:r>
            <a:r>
              <a:rPr lang="ar-SA" dirty="0" smtClean="0"/>
              <a:t>تحقيق </a:t>
            </a:r>
            <a:r>
              <a:rPr lang="ar-MA" dirty="0" smtClean="0"/>
              <a:t>ل</a:t>
            </a:r>
            <a:r>
              <a:rPr lang="ar-SA" dirty="0" smtClean="0"/>
              <a:t>تنمية </a:t>
            </a:r>
            <a:r>
              <a:rPr lang="ar-SA" dirty="0"/>
              <a:t>نوعية، تزاوج بين </a:t>
            </a:r>
            <a:r>
              <a:rPr lang="ar-MA" dirty="0" smtClean="0"/>
              <a:t>«</a:t>
            </a:r>
            <a:r>
              <a:rPr lang="ar-SA" dirty="0" smtClean="0">
                <a:solidFill>
                  <a:srgbClr val="FF0000"/>
                </a:solidFill>
              </a:rPr>
              <a:t>ال</a:t>
            </a:r>
            <a:r>
              <a:rPr lang="ar-MA" dirty="0" smtClean="0">
                <a:solidFill>
                  <a:srgbClr val="FF0000"/>
                </a:solidFill>
              </a:rPr>
              <a:t>طاقات</a:t>
            </a:r>
            <a:r>
              <a:rPr lang="ar-SA" dirty="0" smtClean="0">
                <a:solidFill>
                  <a:srgbClr val="FF0000"/>
                </a:solidFill>
              </a:rPr>
              <a:t> </a:t>
            </a:r>
            <a:r>
              <a:rPr lang="ar-SA" dirty="0">
                <a:solidFill>
                  <a:srgbClr val="FF0000"/>
                </a:solidFill>
              </a:rPr>
              <a:t>الناعمة </a:t>
            </a:r>
            <a:r>
              <a:rPr lang="ar-SA" dirty="0" smtClean="0">
                <a:solidFill>
                  <a:srgbClr val="FF0000"/>
                </a:solidFill>
              </a:rPr>
              <a:t>و الصلبة</a:t>
            </a:r>
            <a:r>
              <a:rPr lang="ar-MA" dirty="0" smtClean="0"/>
              <a:t>»</a:t>
            </a:r>
            <a:r>
              <a:rPr lang="ar-SA" dirty="0" smtClean="0"/>
              <a:t>، </a:t>
            </a:r>
            <a:endParaRPr lang="ar-MA" dirty="0" smtClean="0"/>
          </a:p>
          <a:p>
            <a:pPr algn="ctr">
              <a:buFont typeface="Wingdings" pitchFamily="2" charset="2"/>
              <a:buChar char="v"/>
            </a:pPr>
            <a:r>
              <a:rPr lang="fr-FR" dirty="0" smtClean="0"/>
              <a:t> ( La </a:t>
            </a:r>
            <a:r>
              <a:rPr lang="fr-FR" dirty="0"/>
              <a:t>Compétence est un ensemble cohérent et évolutif de connaissances</a:t>
            </a:r>
            <a:r>
              <a:rPr lang="fr-FR" dirty="0" smtClean="0"/>
              <a:t>, de </a:t>
            </a:r>
            <a:r>
              <a:rPr lang="fr-FR" dirty="0"/>
              <a:t>savoir-faire professionnels, d’aptitudes et de traits de </a:t>
            </a:r>
            <a:r>
              <a:rPr lang="fr-FR" dirty="0" smtClean="0"/>
              <a:t>personnalité  développés </a:t>
            </a:r>
            <a:r>
              <a:rPr lang="fr-FR" dirty="0"/>
              <a:t>par </a:t>
            </a:r>
            <a:r>
              <a:rPr lang="fr-FR" dirty="0" smtClean="0"/>
              <a:t>l’expérience)</a:t>
            </a:r>
          </a:p>
          <a:p>
            <a:pPr marL="0" indent="0" algn="r">
              <a:buNone/>
            </a:pPr>
            <a:r>
              <a:rPr lang="ar-MA" dirty="0">
                <a:solidFill>
                  <a:srgbClr val="FF0000"/>
                </a:solidFill>
              </a:rPr>
              <a:t>الكفايات</a:t>
            </a:r>
            <a:r>
              <a:rPr lang="ar-MA" dirty="0"/>
              <a:t> مفهوم « </a:t>
            </a:r>
            <a:r>
              <a:rPr lang="ar-MA" dirty="0">
                <a:solidFill>
                  <a:srgbClr val="FF0000"/>
                </a:solidFill>
              </a:rPr>
              <a:t>برزخي</a:t>
            </a:r>
            <a:r>
              <a:rPr lang="ar-MA" dirty="0"/>
              <a:t> » تتقاطع فيه مجموعة من المفاهيم:</a:t>
            </a:r>
            <a:r>
              <a:rPr lang="fr-FR" dirty="0"/>
              <a:t> </a:t>
            </a:r>
            <a:r>
              <a:rPr lang="ar-MA" dirty="0"/>
              <a:t> </a:t>
            </a:r>
          </a:p>
          <a:p>
            <a:pPr marL="0" indent="0" algn="r">
              <a:buNone/>
            </a:pPr>
            <a:r>
              <a:rPr lang="ar-MA" dirty="0"/>
              <a:t> </a:t>
            </a:r>
            <a:r>
              <a:rPr lang="fr-FR" dirty="0"/>
              <a:t>    soi</a:t>
            </a:r>
            <a:r>
              <a:rPr lang="ar-MA" dirty="0">
                <a:solidFill>
                  <a:schemeClr val="tx2"/>
                </a:solidFill>
              </a:rPr>
              <a:t>الذات</a:t>
            </a:r>
            <a:r>
              <a:rPr lang="ar-MA" dirty="0"/>
              <a:t> </a:t>
            </a:r>
            <a:r>
              <a:rPr lang="fr-FR" dirty="0"/>
              <a:t>identité</a:t>
            </a:r>
            <a:r>
              <a:rPr lang="ar-MA" dirty="0">
                <a:solidFill>
                  <a:schemeClr val="tx2"/>
                </a:solidFill>
              </a:rPr>
              <a:t>الهوية</a:t>
            </a:r>
            <a:r>
              <a:rPr lang="ar-MA" dirty="0"/>
              <a:t> </a:t>
            </a:r>
            <a:r>
              <a:rPr lang="fr-FR" dirty="0"/>
              <a:t>personnalité/ </a:t>
            </a:r>
            <a:r>
              <a:rPr lang="ar-MA" dirty="0"/>
              <a:t>مثلا </a:t>
            </a:r>
            <a:r>
              <a:rPr lang="ar-MA" dirty="0">
                <a:solidFill>
                  <a:schemeClr val="tx2"/>
                </a:solidFill>
              </a:rPr>
              <a:t>الشخصية</a:t>
            </a:r>
            <a:r>
              <a:rPr lang="ar-MA" dirty="0"/>
              <a:t> </a:t>
            </a:r>
            <a:endParaRPr lang="fr-FR" dirty="0"/>
          </a:p>
          <a:p>
            <a:pPr marL="0" indent="0" algn="r">
              <a:buNone/>
            </a:pPr>
            <a:r>
              <a:rPr lang="ar-MA" dirty="0" smtClean="0"/>
              <a:t>   ( الشخصية مجموعة </a:t>
            </a:r>
            <a:r>
              <a:rPr lang="ar-MA" dirty="0"/>
              <a:t>من </a:t>
            </a:r>
            <a:r>
              <a:rPr lang="ar-MA" dirty="0">
                <a:solidFill>
                  <a:srgbClr val="FF0000"/>
                </a:solidFill>
              </a:rPr>
              <a:t>الأنماط السلوكية</a:t>
            </a:r>
            <a:r>
              <a:rPr lang="ar-MA" dirty="0"/>
              <a:t>، و</a:t>
            </a:r>
            <a:r>
              <a:rPr lang="ar-MA" dirty="0">
                <a:solidFill>
                  <a:srgbClr val="FF0000"/>
                </a:solidFill>
              </a:rPr>
              <a:t>المعرفية</a:t>
            </a:r>
            <a:r>
              <a:rPr lang="ar-MA" dirty="0"/>
              <a:t> و</a:t>
            </a:r>
            <a:r>
              <a:rPr lang="ar-MA" dirty="0">
                <a:solidFill>
                  <a:srgbClr val="FF0000"/>
                </a:solidFill>
              </a:rPr>
              <a:t>العاطفية</a:t>
            </a:r>
            <a:r>
              <a:rPr lang="ar-MA" dirty="0"/>
              <a:t> المترابطة التي تميز كل شخص وتمثل </a:t>
            </a:r>
            <a:r>
              <a:rPr lang="ar-MA" dirty="0">
                <a:solidFill>
                  <a:srgbClr val="FF0000"/>
                </a:solidFill>
              </a:rPr>
              <a:t>تكيفه</a:t>
            </a:r>
            <a:r>
              <a:rPr lang="ar-MA" dirty="0"/>
              <a:t> الفريد مع الحياة، </a:t>
            </a:r>
            <a:r>
              <a:rPr lang="ar-MA" dirty="0" smtClean="0">
                <a:solidFill>
                  <a:srgbClr val="FF0000"/>
                </a:solidFill>
              </a:rPr>
              <a:t>مستقرة نسبيا</a:t>
            </a:r>
            <a:r>
              <a:rPr lang="ar-MA" dirty="0" smtClean="0"/>
              <a:t>، قابلة للتغير مع الزمن.)</a:t>
            </a:r>
          </a:p>
          <a:p>
            <a:pPr marL="0" indent="0" algn="r">
              <a:buNone/>
            </a:pPr>
            <a:r>
              <a:rPr lang="ar-MA" dirty="0">
                <a:solidFill>
                  <a:schemeClr val="tx2"/>
                </a:solidFill>
              </a:rPr>
              <a:t>ما ملامح الشخصية المغربية ؟</a:t>
            </a:r>
            <a:endParaRPr lang="ar-MA" dirty="0" smtClean="0"/>
          </a:p>
        </p:txBody>
      </p:sp>
    </p:spTree>
    <p:extLst>
      <p:ext uri="{BB962C8B-B14F-4D97-AF65-F5344CB8AC3E}">
        <p14:creationId xmlns:p14="http://schemas.microsoft.com/office/powerpoint/2010/main" val="409826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476672"/>
            <a:ext cx="8280920" cy="5904656"/>
          </a:xfrm>
        </p:spPr>
        <p:txBody>
          <a:bodyPr>
            <a:normAutofit fontScale="85000" lnSpcReduction="20000"/>
          </a:bodyPr>
          <a:lstStyle/>
          <a:p>
            <a:pPr marL="0" indent="0" algn="r">
              <a:buNone/>
            </a:pPr>
            <a:r>
              <a:rPr lang="ar-MA" dirty="0" smtClean="0">
                <a:solidFill>
                  <a:schemeClr val="tx2"/>
                </a:solidFill>
              </a:rPr>
              <a:t>       - الشخصية المغربية:</a:t>
            </a:r>
          </a:p>
          <a:p>
            <a:pPr marL="0" indent="0" algn="r">
              <a:buNone/>
            </a:pPr>
            <a:r>
              <a:rPr lang="ar-MA" dirty="0" smtClean="0"/>
              <a:t>     كريمة جوادة، خدومة ( الرجولة)، مرحة، غيورة، شفافة، مرضية...</a:t>
            </a:r>
          </a:p>
          <a:p>
            <a:pPr marL="0" indent="0" algn="r">
              <a:buNone/>
            </a:pPr>
            <a:r>
              <a:rPr lang="ar-MA" dirty="0" smtClean="0"/>
              <a:t>(الهوية الثقافية لأي شعب هي القدر الثابت والجوهري والمشترك من </a:t>
            </a:r>
            <a:r>
              <a:rPr lang="ar-MA" dirty="0" smtClean="0">
                <a:solidFill>
                  <a:srgbClr val="FF0000"/>
                </a:solidFill>
              </a:rPr>
              <a:t>السمات والقسمات العامة</a:t>
            </a:r>
            <a:r>
              <a:rPr lang="ar-MA" dirty="0" smtClean="0"/>
              <a:t> التي </a:t>
            </a:r>
            <a:r>
              <a:rPr lang="ar-MA" dirty="0" smtClean="0">
                <a:solidFill>
                  <a:srgbClr val="FF0000"/>
                </a:solidFill>
              </a:rPr>
              <a:t>تميز</a:t>
            </a:r>
            <a:r>
              <a:rPr lang="ar-MA" dirty="0" smtClean="0"/>
              <a:t> حضارته عن غيرها من الحضارات )</a:t>
            </a:r>
          </a:p>
          <a:p>
            <a:pPr marL="0" indent="0" algn="r">
              <a:buNone/>
            </a:pPr>
            <a:r>
              <a:rPr lang="ar-MA" dirty="0" smtClean="0"/>
              <a:t> - الدين، اللغة، التاريخ، التقاليد... </a:t>
            </a:r>
          </a:p>
          <a:p>
            <a:pPr marL="0" indent="0" algn="r">
              <a:buNone/>
            </a:pPr>
            <a:endParaRPr lang="ar-MA" dirty="0" smtClean="0">
              <a:solidFill>
                <a:schemeClr val="tx2"/>
              </a:solidFill>
            </a:endParaRPr>
          </a:p>
          <a:p>
            <a:pPr marL="0" indent="0" algn="r">
              <a:buNone/>
            </a:pPr>
            <a:r>
              <a:rPr lang="ar-MA" dirty="0" smtClean="0">
                <a:solidFill>
                  <a:schemeClr val="tx2"/>
                </a:solidFill>
              </a:rPr>
              <a:t>     كتاب للتأمل،« الهويات القاتلة» أمين معلوف : خطاب الهدم ونسف </a:t>
            </a:r>
          </a:p>
          <a:p>
            <a:pPr marL="0" indent="0" algn="r">
              <a:buNone/>
            </a:pPr>
            <a:r>
              <a:rPr lang="ar-MA" dirty="0" smtClean="0">
                <a:solidFill>
                  <a:schemeClr val="tx2"/>
                </a:solidFill>
              </a:rPr>
              <a:t>التعايش وإذكاء نزعة الانتقام والكراهية عن معرفة اوجهل</a:t>
            </a:r>
          </a:p>
          <a:p>
            <a:pPr marL="0" indent="0" algn="r">
              <a:buNone/>
            </a:pPr>
            <a:endParaRPr lang="ar-MA" dirty="0" smtClean="0"/>
          </a:p>
          <a:p>
            <a:pPr marL="0" indent="0" algn="r">
              <a:buNone/>
            </a:pPr>
            <a:r>
              <a:rPr lang="ar-MA" dirty="0"/>
              <a:t> </a:t>
            </a:r>
            <a:r>
              <a:rPr lang="ar-MA" dirty="0" smtClean="0"/>
              <a:t>  يقول سقراط: الذات هي الوعي والإدراك الحسي الذي يتكون من البحث (العقائد و الأفكار).</a:t>
            </a:r>
          </a:p>
          <a:p>
            <a:pPr marL="0" indent="0" algn="r">
              <a:buNone/>
            </a:pPr>
            <a:r>
              <a:rPr lang="ar-MA" dirty="0" smtClean="0"/>
              <a:t>الذات هي صورة الفرد أمام نفسه، معرفته بها، أما الشخصية هي صورة الفرد أمام الأخرين. </a:t>
            </a:r>
          </a:p>
          <a:p>
            <a:pPr marL="0" indent="0" algn="r">
              <a:buNone/>
            </a:pPr>
            <a:r>
              <a:rPr lang="ar-MA" dirty="0"/>
              <a:t> </a:t>
            </a:r>
            <a:r>
              <a:rPr lang="ar-MA" dirty="0" smtClean="0"/>
              <a:t>      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094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435280" cy="1156990"/>
          </a:xfrm>
        </p:spPr>
        <p:txBody>
          <a:bodyPr>
            <a:normAutofit fontScale="90000"/>
          </a:bodyPr>
          <a:lstStyle/>
          <a:p>
            <a:r>
              <a:rPr lang="ar-MA" dirty="0" smtClean="0">
                <a:solidFill>
                  <a:srgbClr val="FF0000"/>
                </a:solidFill>
              </a:rPr>
              <a:t>رهانات الكفايات الصلبة(التقنية) والناعمة(الذاتية).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196752"/>
            <a:ext cx="8280920" cy="5112568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ar-MA" sz="3600" dirty="0" smtClean="0"/>
              <a:t>          </a:t>
            </a:r>
            <a:r>
              <a:rPr lang="fr-FR" sz="4400" b="1" dirty="0" smtClean="0"/>
              <a:t>la </a:t>
            </a:r>
            <a:r>
              <a:rPr lang="fr-FR" sz="4400" b="1" dirty="0"/>
              <a:t>compétence serait une </a:t>
            </a:r>
            <a:r>
              <a:rPr lang="fr-FR" sz="4400" b="1" dirty="0" smtClean="0"/>
              <a:t> </a:t>
            </a:r>
            <a:r>
              <a:rPr lang="fr-FR" sz="4400" b="1" dirty="0">
                <a:solidFill>
                  <a:schemeClr val="tx2"/>
                </a:solidFill>
              </a:rPr>
              <a:t>notion simple pour des enjeux forts </a:t>
            </a:r>
            <a:r>
              <a:rPr lang="fr-FR" sz="4400" b="1" dirty="0" smtClean="0">
                <a:solidFill>
                  <a:schemeClr val="tx2"/>
                </a:solidFill>
              </a:rPr>
              <a:t>».</a:t>
            </a:r>
            <a:endParaRPr lang="ar-MA" sz="4400" b="1" dirty="0" smtClean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fr-FR" sz="4400" b="1" dirty="0" smtClean="0">
                <a:solidFill>
                  <a:schemeClr val="tx2"/>
                </a:solidFill>
              </a:rPr>
              <a:t> </a:t>
            </a:r>
            <a:r>
              <a:rPr lang="ar-MA" sz="4400" b="1" dirty="0" smtClean="0">
                <a:solidFill>
                  <a:schemeClr val="tx2"/>
                </a:solidFill>
              </a:rPr>
              <a:t>      </a:t>
            </a:r>
            <a:r>
              <a:rPr lang="fr-FR" sz="4400" b="1" dirty="0" smtClean="0"/>
              <a:t>les </a:t>
            </a:r>
            <a:r>
              <a:rPr lang="fr-FR" sz="4400" b="1" dirty="0"/>
              <a:t>compétences techniques sont susceptibles d’évaluation et de </a:t>
            </a:r>
            <a:r>
              <a:rPr lang="ar-MA" sz="4400" b="1" dirty="0" smtClean="0"/>
              <a:t>  </a:t>
            </a:r>
            <a:r>
              <a:rPr lang="fr-FR" sz="4400" b="1" dirty="0" smtClean="0"/>
              <a:t>développement.</a:t>
            </a:r>
            <a:endParaRPr lang="fr-FR" sz="4400" b="1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ar-MA" sz="4400" b="1" dirty="0" smtClean="0"/>
              <a:t>     </a:t>
            </a:r>
            <a:r>
              <a:rPr lang="fr-FR" sz="4400" b="1" dirty="0" smtClean="0"/>
              <a:t>les</a:t>
            </a:r>
            <a:r>
              <a:rPr lang="fr-FR" sz="4400" b="1" dirty="0" smtClean="0">
                <a:solidFill>
                  <a:schemeClr val="tx2"/>
                </a:solidFill>
              </a:rPr>
              <a:t> enjeux</a:t>
            </a:r>
            <a:r>
              <a:rPr lang="ar-MA" sz="4400" b="1" dirty="0" smtClean="0">
                <a:solidFill>
                  <a:schemeClr val="tx2"/>
                </a:solidFill>
              </a:rPr>
              <a:t>الرهانات</a:t>
            </a:r>
            <a:r>
              <a:rPr lang="ar-MA" sz="4400" b="1" dirty="0" smtClean="0"/>
              <a:t> </a:t>
            </a:r>
            <a:r>
              <a:rPr lang="fr-FR" sz="4400" b="1" dirty="0" smtClean="0"/>
              <a:t> </a:t>
            </a:r>
            <a:r>
              <a:rPr lang="fr-FR" sz="4400" b="1" dirty="0"/>
              <a:t>liés aux soft </a:t>
            </a:r>
            <a:r>
              <a:rPr lang="fr-FR" sz="4400" b="1" dirty="0" err="1" smtClean="0"/>
              <a:t>skills</a:t>
            </a:r>
            <a:r>
              <a:rPr lang="ar-MA" sz="4400" b="1" dirty="0" smtClean="0"/>
              <a:t>(الكفايات الذاتية ) </a:t>
            </a:r>
            <a:r>
              <a:rPr lang="fr-FR" sz="4400" b="1" dirty="0" smtClean="0"/>
              <a:t> </a:t>
            </a:r>
            <a:r>
              <a:rPr lang="fr-FR" sz="4400" b="1" dirty="0"/>
              <a:t>sont de plus en </a:t>
            </a:r>
            <a:r>
              <a:rPr lang="fr-FR" sz="4400" b="1" dirty="0" smtClean="0"/>
              <a:t>plus prégnants  </a:t>
            </a:r>
            <a:r>
              <a:rPr lang="ar-MA" sz="4400" b="1" dirty="0" smtClean="0"/>
              <a:t>    ،(حافلة بالمعاني )  </a:t>
            </a:r>
            <a:r>
              <a:rPr lang="fr-FR" sz="4400" b="1" dirty="0" smtClean="0"/>
              <a:t>dans </a:t>
            </a:r>
            <a:r>
              <a:rPr lang="fr-FR" sz="4400" b="1" dirty="0"/>
              <a:t>un monde complexe, mouvant et </a:t>
            </a:r>
            <a:r>
              <a:rPr lang="fr-FR" sz="4400" b="1" dirty="0" smtClean="0"/>
              <a:t>hyperconcurrentiel</a:t>
            </a:r>
            <a:r>
              <a:rPr lang="ar-MA" sz="4400" b="1" dirty="0" smtClean="0"/>
              <a:t>                                     :حدة التنافس ( ما فوق   التنافسية )                                                        </a:t>
            </a:r>
            <a:endParaRPr lang="fr-FR" sz="4400" b="1" dirty="0"/>
          </a:p>
          <a:p>
            <a:pPr algn="just"/>
            <a:r>
              <a:rPr lang="ar-MA" sz="4400" b="1" dirty="0" smtClean="0"/>
              <a:t>            </a:t>
            </a:r>
            <a:r>
              <a:rPr lang="fr-FR" sz="4400" b="1" dirty="0" smtClean="0"/>
              <a:t>Satisfaction</a:t>
            </a:r>
            <a:r>
              <a:rPr lang="ar-MA" sz="4400" b="1" dirty="0" smtClean="0"/>
              <a:t> الرضى </a:t>
            </a:r>
            <a:r>
              <a:rPr lang="fr-FR" sz="4400" b="1" dirty="0" smtClean="0"/>
              <a:t>/employabilité</a:t>
            </a:r>
            <a:r>
              <a:rPr lang="ar-MA" sz="4400" b="1" dirty="0" smtClean="0"/>
              <a:t> ( </a:t>
            </a:r>
            <a:r>
              <a:rPr lang="ar-MA" sz="4400" b="1" dirty="0" err="1" smtClean="0"/>
              <a:t>التوظيفانية</a:t>
            </a:r>
            <a:r>
              <a:rPr lang="ar-MA" sz="4400" b="1" dirty="0" smtClean="0"/>
              <a:t> ) قابلية التوظيف </a:t>
            </a:r>
          </a:p>
          <a:p>
            <a:pPr marL="0" indent="0" algn="just">
              <a:buNone/>
            </a:pPr>
            <a:r>
              <a:rPr lang="ar-MA" sz="4400" b="1" dirty="0" smtClean="0"/>
              <a:t>                  </a:t>
            </a:r>
            <a:r>
              <a:rPr lang="fr-FR" sz="4400" b="1" dirty="0" smtClean="0"/>
              <a:t>/rémunération</a:t>
            </a:r>
            <a:r>
              <a:rPr lang="ar-MA" sz="4400" b="1" dirty="0" smtClean="0"/>
              <a:t> الأجر </a:t>
            </a:r>
            <a:r>
              <a:rPr lang="fr-FR" sz="4400" b="1" dirty="0" smtClean="0"/>
              <a:t>/ </a:t>
            </a:r>
            <a:r>
              <a:rPr lang="fr-FR" sz="4400" b="1" dirty="0"/>
              <a:t>gestion des </a:t>
            </a:r>
            <a:r>
              <a:rPr lang="fr-FR" sz="4400" b="1" dirty="0" smtClean="0"/>
              <a:t>talents</a:t>
            </a:r>
            <a:r>
              <a:rPr lang="ar-MA" sz="4400" b="1" dirty="0" smtClean="0"/>
              <a:t>إدارة المواهب </a:t>
            </a:r>
          </a:p>
          <a:p>
            <a:pPr marL="0" indent="0" algn="just">
              <a:buNone/>
            </a:pPr>
            <a:r>
              <a:rPr lang="ar-MA" sz="4400" b="1" dirty="0" smtClean="0"/>
              <a:t> </a:t>
            </a:r>
          </a:p>
          <a:p>
            <a:pPr marL="0" indent="0" algn="just">
              <a:buNone/>
            </a:pPr>
            <a:r>
              <a:rPr lang="ar-MA" sz="4400" b="1" dirty="0" smtClean="0"/>
              <a:t>   </a:t>
            </a:r>
            <a:r>
              <a:rPr lang="fr-FR" sz="4400" b="1" dirty="0" smtClean="0"/>
              <a:t>le </a:t>
            </a:r>
            <a:r>
              <a:rPr lang="fr-FR" sz="4400" b="1" dirty="0"/>
              <a:t>recrutement des talents de demain ne se limite plus aux seules </a:t>
            </a:r>
            <a:r>
              <a:rPr lang="fr-FR" sz="4400" b="1" dirty="0">
                <a:solidFill>
                  <a:srgbClr val="FF0000"/>
                </a:solidFill>
              </a:rPr>
              <a:t>compétences techniques </a:t>
            </a:r>
            <a:r>
              <a:rPr lang="fr-FR" sz="4400" b="1" dirty="0"/>
              <a:t>mais doit intégrer les «</a:t>
            </a:r>
            <a:r>
              <a:rPr lang="fr-FR" sz="4400" b="1" dirty="0">
                <a:solidFill>
                  <a:srgbClr val="FF0000"/>
                </a:solidFill>
              </a:rPr>
              <a:t> compétences émotionnelles et relationnelles. </a:t>
            </a:r>
            <a:r>
              <a:rPr lang="fr-FR" sz="4400" b="1" dirty="0"/>
              <a:t>»</a:t>
            </a:r>
          </a:p>
          <a:p>
            <a:pPr algn="just"/>
            <a:endParaRPr lang="ar-MA" sz="44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ar-MA" sz="4400" b="1" dirty="0" smtClean="0">
                <a:solidFill>
                  <a:srgbClr val="FF0000"/>
                </a:solidFill>
              </a:rPr>
              <a:t>للنقاش: كيف </a:t>
            </a:r>
            <a:r>
              <a:rPr lang="ar-MA" sz="4400" b="1" dirty="0">
                <a:solidFill>
                  <a:srgbClr val="FF0000"/>
                </a:solidFill>
              </a:rPr>
              <a:t>يمكن لكفاياتنا التقنية والذاتية </a:t>
            </a:r>
            <a:r>
              <a:rPr lang="ar-MA" sz="4400" b="1" dirty="0" smtClean="0">
                <a:solidFill>
                  <a:srgbClr val="FF0000"/>
                </a:solidFill>
              </a:rPr>
              <a:t>( </a:t>
            </a:r>
            <a:r>
              <a:rPr lang="ar-MA" sz="4400" b="1" dirty="0" smtClean="0">
                <a:solidFill>
                  <a:srgbClr val="00B050"/>
                </a:solidFill>
              </a:rPr>
              <a:t>كطلبة </a:t>
            </a:r>
            <a:r>
              <a:rPr lang="ar-MA" sz="4400" b="1" dirty="0" smtClean="0">
                <a:solidFill>
                  <a:srgbClr val="FF0000"/>
                </a:solidFill>
              </a:rPr>
              <a:t>) أن </a:t>
            </a:r>
            <a:r>
              <a:rPr lang="ar-MA" sz="4400" b="1" dirty="0">
                <a:solidFill>
                  <a:srgbClr val="FF0000"/>
                </a:solidFill>
              </a:rPr>
              <a:t>تساهم في بناء صرح الثقافة </a:t>
            </a:r>
            <a:r>
              <a:rPr lang="ar-MA" sz="4400" b="1" dirty="0" smtClean="0">
                <a:solidFill>
                  <a:srgbClr val="FF0000"/>
                </a:solidFill>
              </a:rPr>
              <a:t>المغربية ؟</a:t>
            </a:r>
            <a:r>
              <a:rPr lang="ar-MA" sz="4400" b="1" dirty="0" smtClean="0">
                <a:solidFill>
                  <a:schemeClr val="tx2"/>
                </a:solidFill>
              </a:rPr>
              <a:t>          </a:t>
            </a:r>
          </a:p>
          <a:p>
            <a:pPr algn="just"/>
            <a:endParaRPr lang="ar-MA" dirty="0">
              <a:solidFill>
                <a:schemeClr val="tx2"/>
              </a:solidFill>
            </a:endParaRPr>
          </a:p>
          <a:p>
            <a:pPr algn="just"/>
            <a:endParaRPr lang="ar-MA" dirty="0" smtClean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557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19256" cy="1228998"/>
          </a:xfrm>
        </p:spPr>
        <p:txBody>
          <a:bodyPr>
            <a:normAutofit/>
          </a:bodyPr>
          <a:lstStyle/>
          <a:p>
            <a:r>
              <a:rPr lang="ar-MA" dirty="0" smtClean="0">
                <a:solidFill>
                  <a:schemeClr val="tx2"/>
                </a:solidFill>
              </a:rPr>
              <a:t>المعلوم من الكفايات الذاتية بالضرورة</a:t>
            </a:r>
            <a:endParaRPr lang="ar-MA" dirty="0">
              <a:solidFill>
                <a:schemeClr val="tx2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19256" cy="4857403"/>
          </a:xfrm>
        </p:spPr>
        <p:txBody>
          <a:bodyPr>
            <a:normAutofit fontScale="77500" lnSpcReduction="20000"/>
          </a:bodyPr>
          <a:lstStyle/>
          <a:p>
            <a:r>
              <a:rPr lang="ar-MA" sz="3400" dirty="0" smtClean="0">
                <a:solidFill>
                  <a:srgbClr val="FF0000"/>
                </a:solidFill>
              </a:rPr>
              <a:t>كيف يمكن لهذه الكفايات الناعمة أن تساهم في بناء « </a:t>
            </a:r>
            <a:r>
              <a:rPr lang="ar-MA" sz="3400" dirty="0" err="1" smtClean="0">
                <a:solidFill>
                  <a:srgbClr val="FF0000"/>
                </a:solidFill>
              </a:rPr>
              <a:t>التمغربيت</a:t>
            </a:r>
            <a:r>
              <a:rPr lang="ar-MA" sz="3400" dirty="0" smtClean="0">
                <a:solidFill>
                  <a:srgbClr val="FF0000"/>
                </a:solidFill>
              </a:rPr>
              <a:t>»</a:t>
            </a:r>
            <a:endParaRPr lang="fr-FR" sz="3400" dirty="0">
              <a:solidFill>
                <a:srgbClr val="FF0000"/>
              </a:solidFill>
            </a:endParaRPr>
          </a:p>
          <a:p>
            <a:r>
              <a:rPr lang="fr-FR" sz="3400" dirty="0"/>
              <a:t>1- </a:t>
            </a:r>
            <a:r>
              <a:rPr lang="fr-FR" sz="3400" b="1" dirty="0"/>
              <a:t>La résolution de </a:t>
            </a:r>
            <a:r>
              <a:rPr lang="fr-FR" sz="3400" b="1" dirty="0" smtClean="0"/>
              <a:t>problèmes</a:t>
            </a:r>
            <a:r>
              <a:rPr lang="ar-MA" sz="3400" b="1" dirty="0" smtClean="0"/>
              <a:t> حل المشاكل :</a:t>
            </a:r>
          </a:p>
          <a:p>
            <a:r>
              <a:rPr lang="ar-MA" sz="3400" dirty="0" smtClean="0"/>
              <a:t>  </a:t>
            </a:r>
            <a:r>
              <a:rPr lang="fr-FR" sz="3400" dirty="0" smtClean="0"/>
              <a:t>( </a:t>
            </a:r>
            <a:r>
              <a:rPr lang="fr-FR" sz="3400" dirty="0"/>
              <a:t>julien </a:t>
            </a:r>
            <a:r>
              <a:rPr lang="fr-FR" sz="3400" dirty="0" err="1"/>
              <a:t>Bouret</a:t>
            </a:r>
            <a:r>
              <a:rPr lang="fr-FR" sz="3400" dirty="0"/>
              <a:t> parle de Prise de décision: si l on assume une décision, on aura beaucoup plus de facilite a mener un projet, a emmener des gens avec soi.</a:t>
            </a:r>
          </a:p>
          <a:p>
            <a:r>
              <a:rPr lang="fr-FR" sz="3400" dirty="0"/>
              <a:t>2-</a:t>
            </a:r>
            <a:r>
              <a:rPr lang="fr-FR" sz="3400" b="1" dirty="0"/>
              <a:t> La confiance </a:t>
            </a:r>
            <a:r>
              <a:rPr lang="ar-MA" sz="3400" b="1" dirty="0" smtClean="0"/>
              <a:t>الثقة في النفس :</a:t>
            </a:r>
          </a:p>
          <a:p>
            <a:r>
              <a:rPr lang="ar-MA" sz="3400" dirty="0" smtClean="0"/>
              <a:t> </a:t>
            </a:r>
            <a:r>
              <a:rPr lang="fr-FR" sz="3400" dirty="0" smtClean="0"/>
              <a:t>( </a:t>
            </a:r>
            <a:r>
              <a:rPr lang="fr-FR" sz="3400" dirty="0"/>
              <a:t>Jérôme HOARAU: c est a la fois la confiance en soi, pour faire face, mais aussi la confiance aux autres( le sentiment d être reconnus/ avoir de la valeur) et la confiance en l avenir)</a:t>
            </a:r>
          </a:p>
          <a:p>
            <a:r>
              <a:rPr lang="fr-FR" sz="3400" dirty="0"/>
              <a:t>3- </a:t>
            </a:r>
            <a:r>
              <a:rPr lang="fr-FR" sz="3400" b="1" dirty="0"/>
              <a:t>l intelligence </a:t>
            </a:r>
            <a:r>
              <a:rPr lang="fr-FR" sz="3400" b="1" dirty="0" smtClean="0"/>
              <a:t>émotionnelle</a:t>
            </a:r>
            <a:r>
              <a:rPr lang="fr-FR" sz="3400" dirty="0" smtClean="0"/>
              <a:t>:</a:t>
            </a:r>
            <a:r>
              <a:rPr lang="ar-MA" sz="3400" b="1" dirty="0" smtClean="0"/>
              <a:t>الذكاء العاطفي </a:t>
            </a:r>
          </a:p>
          <a:p>
            <a:r>
              <a:rPr lang="fr-FR" sz="3400" dirty="0" smtClean="0"/>
              <a:t> </a:t>
            </a:r>
            <a:r>
              <a:rPr lang="ar-MA" sz="3400" dirty="0" smtClean="0"/>
              <a:t>  </a:t>
            </a:r>
            <a:r>
              <a:rPr lang="fr-FR" sz="3400" dirty="0" smtClean="0"/>
              <a:t>prendre </a:t>
            </a:r>
            <a:r>
              <a:rPr lang="fr-FR" sz="3400" dirty="0"/>
              <a:t>le recul et identifier ses </a:t>
            </a:r>
            <a:r>
              <a:rPr lang="fr-FR" sz="3400" dirty="0" smtClean="0"/>
              <a:t>émotions </a:t>
            </a:r>
            <a:r>
              <a:rPr lang="fr-FR" sz="3400" dirty="0"/>
              <a:t>et celles des autres afin de ne plus les </a:t>
            </a:r>
            <a:r>
              <a:rPr lang="fr-FR" sz="3400" dirty="0" smtClean="0"/>
              <a:t>subir</a:t>
            </a:r>
            <a:r>
              <a:rPr lang="ar-MA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210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332656"/>
            <a:ext cx="8291264" cy="5793507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4- </a:t>
            </a:r>
            <a:r>
              <a:rPr lang="fr-FR" b="1" dirty="0"/>
              <a:t>l empathie</a:t>
            </a:r>
            <a:r>
              <a:rPr lang="fr-FR" dirty="0"/>
              <a:t>: </a:t>
            </a:r>
            <a:r>
              <a:rPr lang="ar-MA" b="1" dirty="0" smtClean="0"/>
              <a:t>الكياسة </a:t>
            </a:r>
          </a:p>
          <a:p>
            <a:pPr marL="0" indent="0" algn="r">
              <a:buNone/>
            </a:pPr>
            <a:r>
              <a:rPr lang="ar-MA" dirty="0" smtClean="0"/>
              <a:t>    تمكن النفوس من استنباط ما هو أنفع، ظرف وذكاء ولباقة، </a:t>
            </a:r>
          </a:p>
          <a:p>
            <a:pPr marL="0" indent="0" algn="r">
              <a:buNone/>
            </a:pPr>
            <a:r>
              <a:rPr lang="ar-MA" dirty="0" smtClean="0"/>
              <a:t>رجل كيس: </a:t>
            </a:r>
            <a:r>
              <a:rPr lang="ar-MA" dirty="0"/>
              <a:t>ظريف فطن حسن الفهم </a:t>
            </a:r>
            <a:r>
              <a:rPr lang="ar-MA" dirty="0" smtClean="0"/>
              <a:t>والسلوك</a:t>
            </a:r>
          </a:p>
          <a:p>
            <a:pPr marL="0" indent="0" algn="r">
              <a:buNone/>
            </a:pPr>
            <a:r>
              <a:rPr lang="ar-MA" dirty="0" smtClean="0"/>
              <a:t>شخص ظريف يشتهر بسرعة البديهة والقدرة على التعبير المثير للبهجة الترفيه عن النفس.</a:t>
            </a:r>
          </a:p>
          <a:p>
            <a:pPr marL="0" indent="0">
              <a:buNone/>
            </a:pPr>
            <a:r>
              <a:rPr lang="fr-FR" dirty="0" smtClean="0"/>
              <a:t>        </a:t>
            </a:r>
            <a:r>
              <a:rPr lang="ar-MA" dirty="0" smtClean="0"/>
              <a:t>  </a:t>
            </a:r>
            <a:r>
              <a:rPr lang="fr-FR" dirty="0" smtClean="0"/>
              <a:t>comprendre la réalité des autres</a:t>
            </a:r>
          </a:p>
          <a:p>
            <a:r>
              <a:rPr lang="fr-FR" dirty="0" smtClean="0"/>
              <a:t>5- </a:t>
            </a:r>
            <a:r>
              <a:rPr lang="fr-FR" b="1" dirty="0"/>
              <a:t>la communication</a:t>
            </a:r>
            <a:r>
              <a:rPr lang="fr-FR" dirty="0" smtClean="0"/>
              <a:t>:</a:t>
            </a:r>
            <a:r>
              <a:rPr lang="ar-MA" dirty="0" smtClean="0"/>
              <a:t> </a:t>
            </a:r>
            <a:r>
              <a:rPr lang="ar-MA" b="1" dirty="0" smtClean="0"/>
              <a:t>التواصل</a:t>
            </a:r>
            <a:r>
              <a:rPr lang="ar-MA" dirty="0" smtClean="0"/>
              <a:t> </a:t>
            </a:r>
            <a:r>
              <a:rPr lang="fr-FR" dirty="0" smtClean="0"/>
              <a:t> </a:t>
            </a:r>
            <a:endParaRPr lang="ar-MA" dirty="0" smtClean="0"/>
          </a:p>
          <a:p>
            <a:pPr marL="0" indent="0">
              <a:buNone/>
            </a:pPr>
            <a:r>
              <a:rPr lang="ar-MA" dirty="0" smtClean="0"/>
              <a:t>                </a:t>
            </a:r>
            <a:r>
              <a:rPr lang="fr-FR" dirty="0" smtClean="0"/>
              <a:t>Il </a:t>
            </a:r>
            <a:r>
              <a:rPr lang="fr-FR" dirty="0"/>
              <a:t>faut être précis, concis, clair.</a:t>
            </a:r>
          </a:p>
          <a:p>
            <a:r>
              <a:rPr lang="fr-FR" dirty="0"/>
              <a:t>6- </a:t>
            </a:r>
            <a:r>
              <a:rPr lang="fr-FR" b="1" dirty="0"/>
              <a:t>La gestion du </a:t>
            </a:r>
            <a:r>
              <a:rPr lang="fr-FR" b="1" dirty="0" smtClean="0"/>
              <a:t>temps</a:t>
            </a:r>
            <a:r>
              <a:rPr lang="fr-FR" dirty="0" smtClean="0"/>
              <a:t>:</a:t>
            </a:r>
            <a:r>
              <a:rPr lang="ar-MA" b="1" dirty="0" smtClean="0"/>
              <a:t>التدبير الزمني </a:t>
            </a:r>
          </a:p>
          <a:p>
            <a:pPr marL="0" indent="0">
              <a:buNone/>
            </a:pPr>
            <a:r>
              <a:rPr lang="ar-MA" dirty="0" smtClean="0"/>
              <a:t>        </a:t>
            </a:r>
            <a:r>
              <a:rPr lang="fr-FR" dirty="0" smtClean="0"/>
              <a:t> </a:t>
            </a:r>
            <a:r>
              <a:rPr lang="fr-FR" dirty="0"/>
              <a:t>ne pas multiplier les taches, ne pas subir le quotidien, et d identifier les </a:t>
            </a:r>
            <a:r>
              <a:rPr lang="ar-MA" dirty="0" smtClean="0"/>
              <a:t> </a:t>
            </a:r>
            <a:r>
              <a:rPr lang="fr-FR" dirty="0" smtClean="0"/>
              <a:t>éléments </a:t>
            </a:r>
            <a:r>
              <a:rPr lang="fr-FR" dirty="0"/>
              <a:t>qui font perdre du temps.</a:t>
            </a:r>
          </a:p>
          <a:p>
            <a:r>
              <a:rPr lang="fr-FR" dirty="0"/>
              <a:t>7- </a:t>
            </a:r>
            <a:r>
              <a:rPr lang="fr-FR" b="1" dirty="0"/>
              <a:t>la gestion du </a:t>
            </a:r>
            <a:r>
              <a:rPr lang="fr-FR" b="1" dirty="0" smtClean="0"/>
              <a:t>stress</a:t>
            </a:r>
            <a:r>
              <a:rPr lang="fr-FR" dirty="0" smtClean="0"/>
              <a:t>:</a:t>
            </a:r>
            <a:r>
              <a:rPr lang="ar-MA" b="1" dirty="0" smtClean="0"/>
              <a:t>إدارة التوتر </a:t>
            </a:r>
          </a:p>
          <a:p>
            <a:pPr marL="0" indent="0">
              <a:buNone/>
            </a:pPr>
            <a:r>
              <a:rPr lang="ar-MA" dirty="0" smtClean="0"/>
              <a:t>            </a:t>
            </a:r>
            <a:r>
              <a:rPr lang="fr-FR" dirty="0" smtClean="0"/>
              <a:t> </a:t>
            </a:r>
            <a:r>
              <a:rPr lang="fr-FR" dirty="0"/>
              <a:t>il n </a:t>
            </a:r>
            <a:r>
              <a:rPr lang="fr-FR" dirty="0" smtClean="0"/>
              <a:t>y a </a:t>
            </a:r>
            <a:r>
              <a:rPr lang="fr-FR" dirty="0"/>
              <a:t>pas de bon stress, sauf si celui-ci est ponctuel.</a:t>
            </a:r>
          </a:p>
          <a:p>
            <a:r>
              <a:rPr lang="fr-FR" dirty="0"/>
              <a:t>8- </a:t>
            </a:r>
            <a:r>
              <a:rPr lang="fr-FR" b="1" dirty="0"/>
              <a:t>la </a:t>
            </a:r>
            <a:r>
              <a:rPr lang="fr-FR" b="1" dirty="0" smtClean="0"/>
              <a:t>créativité</a:t>
            </a:r>
            <a:r>
              <a:rPr lang="fr-FR" sz="3600" dirty="0" smtClean="0"/>
              <a:t>:</a:t>
            </a:r>
            <a:r>
              <a:rPr lang="ar-MA" sz="3600" b="1" dirty="0" smtClean="0"/>
              <a:t>الإبداعية</a:t>
            </a:r>
            <a:r>
              <a:rPr lang="ar-MA" sz="3600" dirty="0" smtClean="0"/>
              <a:t> </a:t>
            </a:r>
          </a:p>
          <a:p>
            <a:pPr marL="0" indent="0">
              <a:buNone/>
            </a:pPr>
            <a:r>
              <a:rPr lang="ar-MA" sz="3600" dirty="0" smtClean="0"/>
              <a:t>     </a:t>
            </a:r>
            <a:r>
              <a:rPr lang="fr-FR" sz="3600" dirty="0" smtClean="0"/>
              <a:t> </a:t>
            </a:r>
            <a:r>
              <a:rPr lang="fr-FR" sz="3600" dirty="0"/>
              <a:t>il s agit de créer des connections entre les choses, les </a:t>
            </a:r>
            <a:r>
              <a:rPr lang="fr-FR" sz="3600" dirty="0" smtClean="0"/>
              <a:t>idées, </a:t>
            </a:r>
            <a:r>
              <a:rPr lang="fr-FR" sz="3600" dirty="0"/>
              <a:t>des gens</a:t>
            </a:r>
            <a:r>
              <a:rPr lang="fr-FR" sz="3600" dirty="0" smtClean="0"/>
              <a:t>.</a:t>
            </a:r>
            <a:endParaRPr lang="ar-MA" sz="3600" dirty="0" smtClean="0"/>
          </a:p>
          <a:p>
            <a:endParaRPr lang="ar-MA" sz="3600" dirty="0" smtClean="0"/>
          </a:p>
          <a:p>
            <a:endParaRPr lang="fr-FR" sz="3600" dirty="0"/>
          </a:p>
          <a:p>
            <a:pPr algn="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718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548680"/>
            <a:ext cx="8229600" cy="4525963"/>
          </a:xfrm>
        </p:spPr>
        <p:txBody>
          <a:bodyPr>
            <a:noAutofit/>
          </a:bodyPr>
          <a:lstStyle/>
          <a:p>
            <a:endParaRPr lang="ar-MA" sz="1800" dirty="0" smtClean="0"/>
          </a:p>
          <a:p>
            <a:r>
              <a:rPr lang="fr-FR" sz="1800" dirty="0"/>
              <a:t> 9- </a:t>
            </a:r>
            <a:r>
              <a:rPr lang="fr-FR" sz="1800" b="1" dirty="0"/>
              <a:t>l esprit d entreprendre</a:t>
            </a:r>
            <a:r>
              <a:rPr lang="fr-FR" sz="1800" dirty="0"/>
              <a:t>:</a:t>
            </a:r>
            <a:r>
              <a:rPr lang="ar-MA" sz="1800" b="1" dirty="0"/>
              <a:t>( </a:t>
            </a:r>
            <a:r>
              <a:rPr lang="ar-MA" sz="1800" b="1" dirty="0" err="1"/>
              <a:t>المقاولاتية</a:t>
            </a:r>
            <a:r>
              <a:rPr lang="ar-MA" sz="1800" b="1" dirty="0"/>
              <a:t>) روح المبادرة </a:t>
            </a:r>
          </a:p>
          <a:p>
            <a:pPr marL="0" indent="0">
              <a:buNone/>
            </a:pPr>
            <a:r>
              <a:rPr lang="ar-MA" sz="1800" dirty="0"/>
              <a:t>          </a:t>
            </a:r>
            <a:r>
              <a:rPr lang="fr-FR" sz="1800" dirty="0"/>
              <a:t>Etre proactif, audacieux, être dynamique, positif.</a:t>
            </a:r>
          </a:p>
          <a:p>
            <a:r>
              <a:rPr lang="fr-FR" sz="1800" dirty="0"/>
              <a:t>10- </a:t>
            </a:r>
            <a:r>
              <a:rPr lang="fr-FR" sz="1800" b="1" dirty="0"/>
              <a:t>l audace</a:t>
            </a:r>
            <a:r>
              <a:rPr lang="fr-FR" sz="1800" dirty="0"/>
              <a:t>:</a:t>
            </a:r>
            <a:r>
              <a:rPr lang="ar-MA" sz="1800" dirty="0"/>
              <a:t> </a:t>
            </a:r>
            <a:r>
              <a:rPr lang="ar-MA" sz="1800" b="1" dirty="0"/>
              <a:t>الجرأة </a:t>
            </a:r>
            <a:r>
              <a:rPr lang="fr-FR" sz="1800" dirty="0"/>
              <a:t> la capacité a </a:t>
            </a:r>
            <a:r>
              <a:rPr lang="fr-FR" sz="1800" dirty="0" smtClean="0"/>
              <a:t>oser</a:t>
            </a:r>
            <a:endParaRPr lang="ar-MA" sz="1800" dirty="0"/>
          </a:p>
          <a:p>
            <a:r>
              <a:rPr lang="fr-FR" sz="1800" dirty="0" smtClean="0"/>
              <a:t>11- </a:t>
            </a:r>
            <a:r>
              <a:rPr lang="fr-FR" sz="1800" b="1" dirty="0"/>
              <a:t>la </a:t>
            </a:r>
            <a:r>
              <a:rPr lang="fr-FR" sz="1800" b="1" dirty="0" smtClean="0"/>
              <a:t>motivation</a:t>
            </a:r>
            <a:r>
              <a:rPr lang="fr-FR" sz="1800" dirty="0" smtClean="0"/>
              <a:t>:</a:t>
            </a:r>
            <a:r>
              <a:rPr lang="ar-MA" sz="1800" b="1" dirty="0" smtClean="0"/>
              <a:t>التحفيز</a:t>
            </a:r>
            <a:r>
              <a:rPr lang="ar-MA" sz="1800" dirty="0" smtClean="0"/>
              <a:t> </a:t>
            </a:r>
          </a:p>
          <a:p>
            <a:pPr marL="0" indent="0">
              <a:buNone/>
            </a:pPr>
            <a:r>
              <a:rPr lang="ar-MA" sz="1800" dirty="0" smtClean="0"/>
              <a:t>         </a:t>
            </a:r>
            <a:r>
              <a:rPr lang="fr-FR" sz="1800" dirty="0" smtClean="0"/>
              <a:t> </a:t>
            </a:r>
            <a:r>
              <a:rPr lang="fr-FR" sz="1800" dirty="0"/>
              <a:t>donner un sens a ce que l on fait.</a:t>
            </a:r>
          </a:p>
          <a:p>
            <a:r>
              <a:rPr lang="fr-FR" sz="1800" dirty="0"/>
              <a:t>12- </a:t>
            </a:r>
            <a:r>
              <a:rPr lang="fr-FR" sz="1800" b="1" dirty="0"/>
              <a:t>Vision, </a:t>
            </a:r>
            <a:r>
              <a:rPr lang="fr-FR" sz="1800" b="1" dirty="0" smtClean="0"/>
              <a:t>visualisation</a:t>
            </a:r>
            <a:r>
              <a:rPr lang="fr-FR" sz="1800" dirty="0" smtClean="0"/>
              <a:t>:</a:t>
            </a:r>
            <a:r>
              <a:rPr lang="ar-MA" sz="1800" b="1" dirty="0" smtClean="0"/>
              <a:t>بعد النظر </a:t>
            </a:r>
          </a:p>
          <a:p>
            <a:pPr marL="0" indent="0">
              <a:buNone/>
            </a:pPr>
            <a:r>
              <a:rPr lang="ar-MA" sz="1800" dirty="0" smtClean="0"/>
              <a:t>         </a:t>
            </a:r>
            <a:r>
              <a:rPr lang="fr-FR" sz="1800" dirty="0" smtClean="0"/>
              <a:t> </a:t>
            </a:r>
            <a:r>
              <a:rPr lang="fr-FR" sz="1800" dirty="0"/>
              <a:t>la capacité a voir le chemin pour arriver a l objectif.</a:t>
            </a:r>
          </a:p>
          <a:p>
            <a:r>
              <a:rPr lang="fr-FR" sz="1800" dirty="0"/>
              <a:t>13 – </a:t>
            </a:r>
            <a:r>
              <a:rPr lang="fr-FR" sz="1800" b="1" dirty="0"/>
              <a:t>la </a:t>
            </a:r>
            <a:r>
              <a:rPr lang="fr-FR" sz="1800" b="1" dirty="0" smtClean="0"/>
              <a:t>présence</a:t>
            </a:r>
            <a:r>
              <a:rPr lang="fr-FR" sz="1800" dirty="0" smtClean="0"/>
              <a:t>:</a:t>
            </a:r>
            <a:r>
              <a:rPr lang="ar-MA" sz="1800" b="1" dirty="0" smtClean="0"/>
              <a:t>الحضور</a:t>
            </a:r>
            <a:r>
              <a:rPr lang="ar-MA" sz="1800" dirty="0" smtClean="0"/>
              <a:t> </a:t>
            </a:r>
          </a:p>
          <a:p>
            <a:pPr marL="0" indent="0">
              <a:buNone/>
            </a:pPr>
            <a:r>
              <a:rPr lang="ar-MA" sz="1800" dirty="0" smtClean="0"/>
              <a:t>       </a:t>
            </a:r>
            <a:r>
              <a:rPr lang="fr-FR" sz="1800" dirty="0" smtClean="0"/>
              <a:t>   </a:t>
            </a:r>
            <a:r>
              <a:rPr lang="fr-FR" sz="1800" dirty="0"/>
              <a:t>être présent physiquement et mentalement</a:t>
            </a:r>
            <a:r>
              <a:rPr lang="fr-FR" sz="1800" dirty="0" smtClean="0"/>
              <a:t>.</a:t>
            </a:r>
            <a:endParaRPr lang="ar-MA" sz="1800" dirty="0" smtClean="0"/>
          </a:p>
          <a:p>
            <a:r>
              <a:rPr lang="fr-FR" sz="1800" dirty="0"/>
              <a:t>14 – </a:t>
            </a:r>
            <a:r>
              <a:rPr lang="fr-FR" sz="1800" b="1" dirty="0"/>
              <a:t>le sens du </a:t>
            </a:r>
            <a:r>
              <a:rPr lang="fr-FR" sz="1800" b="1" dirty="0" smtClean="0"/>
              <a:t>collectif</a:t>
            </a:r>
            <a:r>
              <a:rPr lang="fr-FR" sz="1800" dirty="0" smtClean="0"/>
              <a:t>:</a:t>
            </a:r>
            <a:r>
              <a:rPr lang="ar-MA" sz="1800" b="1" dirty="0" smtClean="0"/>
              <a:t>الروح الجماعية </a:t>
            </a:r>
          </a:p>
          <a:p>
            <a:pPr marL="0" indent="0">
              <a:buNone/>
            </a:pPr>
            <a:r>
              <a:rPr lang="ar-MA" sz="1800" dirty="0" smtClean="0"/>
              <a:t>       </a:t>
            </a:r>
            <a:r>
              <a:rPr lang="fr-FR" sz="1800" dirty="0" smtClean="0"/>
              <a:t>    seul </a:t>
            </a:r>
            <a:r>
              <a:rPr lang="fr-FR" sz="1800" dirty="0"/>
              <a:t>on va plus vite, mais ensemble on va plus loin.</a:t>
            </a:r>
          </a:p>
          <a:p>
            <a:r>
              <a:rPr lang="fr-FR" sz="1800" dirty="0"/>
              <a:t>15 – </a:t>
            </a:r>
            <a:r>
              <a:rPr lang="fr-FR" sz="1800" b="1" dirty="0"/>
              <a:t>la </a:t>
            </a:r>
            <a:r>
              <a:rPr lang="fr-FR" sz="1800" b="1" dirty="0" smtClean="0"/>
              <a:t>curiosité</a:t>
            </a:r>
            <a:r>
              <a:rPr lang="fr-FR" sz="1800" dirty="0" smtClean="0"/>
              <a:t>:</a:t>
            </a:r>
            <a:r>
              <a:rPr lang="ar-MA" sz="1800" b="1" dirty="0" smtClean="0"/>
              <a:t>حب المعرفة </a:t>
            </a:r>
          </a:p>
          <a:p>
            <a:pPr marL="0" indent="0">
              <a:buNone/>
            </a:pPr>
            <a:r>
              <a:rPr lang="ar-MA" sz="1800" dirty="0" smtClean="0"/>
              <a:t>        </a:t>
            </a:r>
            <a:r>
              <a:rPr lang="fr-FR" sz="1800" dirty="0" smtClean="0"/>
              <a:t>   apprendre </a:t>
            </a:r>
            <a:r>
              <a:rPr lang="fr-FR" sz="1800" dirty="0"/>
              <a:t>a </a:t>
            </a:r>
            <a:r>
              <a:rPr lang="fr-FR" sz="1800" dirty="0" smtClean="0"/>
              <a:t>apprendre</a:t>
            </a:r>
            <a:endParaRPr lang="ar-MA" sz="1800" dirty="0" smtClean="0"/>
          </a:p>
          <a:p>
            <a:pPr marL="0" indent="0" algn="r">
              <a:buNone/>
            </a:pPr>
            <a:endParaRPr lang="fr-FR" sz="1800" dirty="0" smtClean="0"/>
          </a:p>
        </p:txBody>
      </p:sp>
    </p:spTree>
    <p:extLst>
      <p:ext uri="{BB962C8B-B14F-4D97-AF65-F5344CB8AC3E}">
        <p14:creationId xmlns:p14="http://schemas.microsoft.com/office/powerpoint/2010/main" val="62068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MA" dirty="0" smtClean="0"/>
              <a:t>الموهبة والكفاية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19256" cy="4929411"/>
          </a:xfrm>
        </p:spPr>
        <p:txBody>
          <a:bodyPr>
            <a:noAutofit/>
          </a:bodyPr>
          <a:lstStyle/>
          <a:p>
            <a:r>
              <a:rPr lang="fr-FR" sz="1600" b="1" dirty="0" smtClean="0">
                <a:solidFill>
                  <a:schemeClr val="tx2"/>
                </a:solidFill>
              </a:rPr>
              <a:t>Talent</a:t>
            </a:r>
          </a:p>
          <a:p>
            <a:pPr algn="just"/>
            <a:r>
              <a:rPr lang="fr-FR" sz="1600" dirty="0" smtClean="0"/>
              <a:t>    </a:t>
            </a:r>
            <a:r>
              <a:rPr lang="fr-FR" sz="1600" b="1" dirty="0" smtClean="0"/>
              <a:t>Contrairement </a:t>
            </a:r>
            <a:r>
              <a:rPr lang="fr-FR" sz="1600" b="1" dirty="0"/>
              <a:t>à une compétence, qui peut s'acquérir et se développer par la formation </a:t>
            </a:r>
            <a:r>
              <a:rPr lang="fr-FR" sz="1600" b="1" dirty="0" smtClean="0"/>
              <a:t>ou</a:t>
            </a:r>
            <a:r>
              <a:rPr lang="ar-MA" sz="1600" b="1" dirty="0" smtClean="0"/>
              <a:t>  </a:t>
            </a:r>
            <a:r>
              <a:rPr lang="fr-FR" sz="1600" b="1" dirty="0" smtClean="0"/>
              <a:t>l'expérience</a:t>
            </a:r>
            <a:r>
              <a:rPr lang="fr-FR" sz="1600" b="1" dirty="0"/>
              <a:t>, le talent est plus un atout naturel, voire inné. Il a besoin </a:t>
            </a:r>
            <a:r>
              <a:rPr lang="fr-FR" sz="1600" b="1" dirty="0">
                <a:solidFill>
                  <a:srgbClr val="FF0000"/>
                </a:solidFill>
              </a:rPr>
              <a:t>de conditions </a:t>
            </a:r>
            <a:r>
              <a:rPr lang="fr-FR" sz="1600" b="1" dirty="0"/>
              <a:t>et </a:t>
            </a:r>
            <a:r>
              <a:rPr lang="ar-MA" sz="1600" b="1" dirty="0" smtClean="0"/>
              <a:t>     </a:t>
            </a:r>
            <a:r>
              <a:rPr lang="fr-FR" sz="1600" b="1" dirty="0" smtClean="0"/>
              <a:t>d’un</a:t>
            </a:r>
            <a:r>
              <a:rPr lang="ar-MA" sz="1600" b="1" dirty="0" smtClean="0">
                <a:solidFill>
                  <a:srgbClr val="FF0000"/>
                </a:solidFill>
              </a:rPr>
              <a:t> </a:t>
            </a:r>
            <a:r>
              <a:rPr lang="fr-FR" sz="1600" b="1" dirty="0" smtClean="0">
                <a:solidFill>
                  <a:srgbClr val="FF0000"/>
                </a:solidFill>
              </a:rPr>
              <a:t>environnement </a:t>
            </a:r>
            <a:r>
              <a:rPr lang="fr-FR" sz="1600" b="1" dirty="0">
                <a:solidFill>
                  <a:srgbClr val="FF0000"/>
                </a:solidFill>
              </a:rPr>
              <a:t>particulier </a:t>
            </a:r>
            <a:r>
              <a:rPr lang="fr-FR" sz="1600" b="1" dirty="0"/>
              <a:t>pour s'exprimer, et être </a:t>
            </a:r>
            <a:r>
              <a:rPr lang="fr-FR" sz="1600" b="1" dirty="0" smtClean="0">
                <a:solidFill>
                  <a:srgbClr val="FF0000"/>
                </a:solidFill>
              </a:rPr>
              <a:t>détecté</a:t>
            </a:r>
            <a:r>
              <a:rPr lang="fr-FR" sz="1600" b="1" dirty="0" smtClean="0"/>
              <a:t>.</a:t>
            </a:r>
            <a:r>
              <a:rPr lang="ar-MA" sz="1600" b="1" dirty="0" smtClean="0"/>
              <a:t>   </a:t>
            </a:r>
            <a:endParaRPr lang="fr-FR" sz="1600" b="1" dirty="0" smtClean="0"/>
          </a:p>
          <a:p>
            <a:pPr algn="just"/>
            <a:r>
              <a:rPr lang="ar-MA" sz="1600" b="1" dirty="0" smtClean="0"/>
              <a:t>   </a:t>
            </a:r>
            <a:r>
              <a:rPr lang="fr-FR" sz="1600" b="1" dirty="0" smtClean="0"/>
              <a:t>Le </a:t>
            </a:r>
            <a:r>
              <a:rPr lang="fr-FR" sz="1600" b="1" dirty="0"/>
              <a:t>talent s'exprime également par des </a:t>
            </a:r>
            <a:r>
              <a:rPr lang="fr-FR" sz="1600" b="1" dirty="0">
                <a:solidFill>
                  <a:srgbClr val="FF0000"/>
                </a:solidFill>
              </a:rPr>
              <a:t>aptitudes rares </a:t>
            </a:r>
            <a:r>
              <a:rPr lang="fr-FR" sz="1600" b="1" dirty="0"/>
              <a:t>ou particulièrement </a:t>
            </a:r>
            <a:r>
              <a:rPr lang="fr-FR" sz="1600" b="1" dirty="0" smtClean="0"/>
              <a:t>précieuses, </a:t>
            </a:r>
            <a:r>
              <a:rPr lang="fr-FR" sz="1600" b="1" dirty="0"/>
              <a:t>par une </a:t>
            </a:r>
            <a:r>
              <a:rPr lang="fr-FR" sz="1600" b="1" dirty="0">
                <a:solidFill>
                  <a:srgbClr val="FF0000"/>
                </a:solidFill>
              </a:rPr>
              <a:t>capacité d'adaptation hors du commun</a:t>
            </a:r>
            <a:r>
              <a:rPr lang="fr-FR" sz="1600" b="1" dirty="0"/>
              <a:t>, une personnalité ou un </a:t>
            </a:r>
            <a:r>
              <a:rPr lang="fr-FR" sz="1600" b="1" dirty="0" smtClean="0"/>
              <a:t>leadership</a:t>
            </a:r>
            <a:r>
              <a:rPr lang="fr-FR" sz="1600" b="1" dirty="0" smtClean="0">
                <a:solidFill>
                  <a:srgbClr val="FF0000"/>
                </a:solidFill>
              </a:rPr>
              <a:t> affirmé </a:t>
            </a:r>
            <a:r>
              <a:rPr lang="fr-FR" sz="1600" b="1" dirty="0"/>
              <a:t>ou encore une implication et un engagement très forts</a:t>
            </a:r>
            <a:r>
              <a:rPr lang="fr-FR" sz="1600" b="1" dirty="0" smtClean="0"/>
              <a:t>.</a:t>
            </a:r>
          </a:p>
          <a:p>
            <a:pPr marL="0" indent="0">
              <a:buNone/>
            </a:pPr>
            <a:endParaRPr lang="fr-FR" sz="1600" dirty="0"/>
          </a:p>
          <a:p>
            <a:r>
              <a:rPr lang="fr-FR" sz="1600" b="1" dirty="0" smtClean="0">
                <a:solidFill>
                  <a:schemeClr val="tx2"/>
                </a:solidFill>
              </a:rPr>
              <a:t>Compétence</a:t>
            </a:r>
            <a:endParaRPr lang="fr-FR" sz="1600" dirty="0"/>
          </a:p>
          <a:p>
            <a:pPr algn="just"/>
            <a:r>
              <a:rPr lang="ar-MA" sz="1600" dirty="0" smtClean="0"/>
              <a:t>   </a:t>
            </a:r>
            <a:r>
              <a:rPr lang="fr-FR" sz="1600" b="1" dirty="0" smtClean="0"/>
              <a:t>Les compétences  </a:t>
            </a:r>
            <a:r>
              <a:rPr lang="fr-FR" sz="1600" b="1" dirty="0"/>
              <a:t>sont relatives à une situation donnée et elles résultent d’une </a:t>
            </a:r>
            <a:r>
              <a:rPr lang="fr-FR" sz="1600" b="1" dirty="0">
                <a:solidFill>
                  <a:srgbClr val="FF0000"/>
                </a:solidFill>
              </a:rPr>
              <a:t>interaction dynamique </a:t>
            </a:r>
            <a:r>
              <a:rPr lang="fr-FR" sz="1600" b="1" dirty="0" smtClean="0"/>
              <a:t>entre plusieurs</a:t>
            </a:r>
            <a:r>
              <a:rPr lang="ar-MA" sz="1600" b="1" dirty="0" smtClean="0"/>
              <a:t> </a:t>
            </a:r>
            <a:r>
              <a:rPr lang="fr-FR" sz="1600" b="1" dirty="0" smtClean="0"/>
              <a:t> </a:t>
            </a:r>
            <a:r>
              <a:rPr lang="fr-FR" sz="1600" b="1" dirty="0"/>
              <a:t>types de </a:t>
            </a:r>
            <a:r>
              <a:rPr lang="fr-FR" sz="1600" b="1" dirty="0" smtClean="0"/>
              <a:t>savoirs.</a:t>
            </a:r>
          </a:p>
          <a:p>
            <a:pPr algn="just"/>
            <a:r>
              <a:rPr lang="fr-FR" sz="1600" b="1" dirty="0" smtClean="0"/>
              <a:t>On </a:t>
            </a:r>
            <a:r>
              <a:rPr lang="fr-FR" sz="1600" b="1" dirty="0"/>
              <a:t>distingue entre les </a:t>
            </a:r>
            <a:r>
              <a:rPr lang="fr-FR" sz="1600" b="1" dirty="0">
                <a:solidFill>
                  <a:srgbClr val="FF0000"/>
                </a:solidFill>
              </a:rPr>
              <a:t>compétences clé transférables </a:t>
            </a:r>
            <a:r>
              <a:rPr lang="fr-FR" sz="1600" b="1" dirty="0"/>
              <a:t>dans de nombreuses situations. </a:t>
            </a:r>
            <a:endParaRPr lang="fr-FR" sz="1600" b="1" dirty="0" smtClean="0"/>
          </a:p>
          <a:p>
            <a:pPr algn="just"/>
            <a:r>
              <a:rPr lang="fr-FR" sz="1600" b="1" dirty="0" smtClean="0"/>
              <a:t>Maîtriser </a:t>
            </a:r>
            <a:r>
              <a:rPr lang="fr-FR" sz="1600" b="1" dirty="0"/>
              <a:t>une compétence, c’est manifester des </a:t>
            </a:r>
            <a:r>
              <a:rPr lang="fr-FR" sz="1600" b="1" dirty="0">
                <a:solidFill>
                  <a:srgbClr val="FF0000"/>
                </a:solidFill>
              </a:rPr>
              <a:t>savoirs identifiables </a:t>
            </a:r>
            <a:r>
              <a:rPr lang="fr-FR" sz="1600" b="1" dirty="0"/>
              <a:t>par des critères et les </a:t>
            </a:r>
            <a:r>
              <a:rPr lang="fr-FR" sz="1600" b="1" dirty="0" smtClean="0"/>
              <a:t>mobiliser avec </a:t>
            </a:r>
            <a:r>
              <a:rPr lang="fr-FR" sz="1600" b="1" dirty="0"/>
              <a:t>pertinence</a:t>
            </a:r>
            <a:r>
              <a:rPr lang="fr-FR" sz="1600" b="1" dirty="0" smtClean="0"/>
              <a:t>.</a:t>
            </a:r>
          </a:p>
          <a:p>
            <a:pPr algn="just"/>
            <a:r>
              <a:rPr lang="fr-FR" sz="1600" b="1" dirty="0" smtClean="0"/>
              <a:t> </a:t>
            </a:r>
            <a:r>
              <a:rPr lang="fr-FR" sz="1600" b="1" dirty="0"/>
              <a:t>Maîtriser une compétence, c’est investir, c’est </a:t>
            </a:r>
            <a:r>
              <a:rPr lang="fr-FR" sz="1600" b="1" dirty="0">
                <a:solidFill>
                  <a:srgbClr val="FF0000"/>
                </a:solidFill>
              </a:rPr>
              <a:t>réorganiser des </a:t>
            </a:r>
            <a:r>
              <a:rPr lang="fr-FR" sz="1600" b="1" dirty="0" smtClean="0">
                <a:solidFill>
                  <a:srgbClr val="FF0000"/>
                </a:solidFill>
              </a:rPr>
              <a:t>apprentissages </a:t>
            </a:r>
            <a:r>
              <a:rPr lang="fr-FR" sz="1600" b="1" dirty="0" smtClean="0"/>
              <a:t>antérieurs </a:t>
            </a:r>
            <a:r>
              <a:rPr lang="fr-FR" sz="1600" b="1" dirty="0"/>
              <a:t>dans une situation nouvelle ; c’est effectuer des </a:t>
            </a:r>
            <a:r>
              <a:rPr lang="fr-FR" sz="1600" b="1" dirty="0">
                <a:solidFill>
                  <a:srgbClr val="FF0000"/>
                </a:solidFill>
              </a:rPr>
              <a:t>transferts</a:t>
            </a:r>
            <a:r>
              <a:rPr lang="fr-FR" sz="1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6462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Compétences contextualisés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800" b="1" dirty="0"/>
              <a:t>si la compétence se caractérise bien par une </a:t>
            </a:r>
            <a:r>
              <a:rPr lang="fr-FR" sz="2800" b="1" dirty="0">
                <a:solidFill>
                  <a:srgbClr val="FF0000"/>
                </a:solidFill>
              </a:rPr>
              <a:t>combinaison de ressources individuelles</a:t>
            </a:r>
            <a:r>
              <a:rPr lang="fr-FR" sz="2800" b="1" dirty="0"/>
              <a:t>, elle est aussi </a:t>
            </a:r>
            <a:r>
              <a:rPr lang="fr-FR" sz="2800" b="1" dirty="0">
                <a:solidFill>
                  <a:srgbClr val="FF0000"/>
                </a:solidFill>
              </a:rPr>
              <a:t>contextualisée</a:t>
            </a:r>
            <a:r>
              <a:rPr lang="fr-FR" sz="2800" b="1" dirty="0"/>
              <a:t>, c’est à dire qu’elle </a:t>
            </a:r>
            <a:r>
              <a:rPr lang="fr-FR" sz="2800" b="1" dirty="0">
                <a:solidFill>
                  <a:srgbClr val="FF0000"/>
                </a:solidFill>
              </a:rPr>
              <a:t>se mesure en </a:t>
            </a:r>
            <a:r>
              <a:rPr lang="fr-FR" sz="2800" b="1" dirty="0" smtClean="0">
                <a:solidFill>
                  <a:srgbClr val="FF0000"/>
                </a:solidFill>
              </a:rPr>
              <a:t>action</a:t>
            </a:r>
            <a:r>
              <a:rPr lang="ar-MA" sz="2800" b="1" dirty="0">
                <a:solidFill>
                  <a:srgbClr val="FF0000"/>
                </a:solidFill>
              </a:rPr>
              <a:t>.</a:t>
            </a: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endParaRPr lang="fr-FR" sz="2800" b="1" dirty="0">
              <a:solidFill>
                <a:srgbClr val="FF0000"/>
              </a:solidFill>
            </a:endParaRPr>
          </a:p>
          <a:p>
            <a:r>
              <a:rPr lang="fr-FR" sz="2800" b="1" dirty="0"/>
              <a:t>On n’est pas compétent en soi, on </a:t>
            </a:r>
            <a:r>
              <a:rPr lang="fr-FR" sz="2800" b="1" dirty="0" smtClean="0"/>
              <a:t>est</a:t>
            </a:r>
            <a:r>
              <a:rPr lang="ar-MA" sz="2800" b="1" dirty="0" smtClean="0"/>
              <a:t> </a:t>
            </a:r>
            <a:r>
              <a:rPr lang="fr-FR" sz="2800" b="1" dirty="0" smtClean="0"/>
              <a:t>compétent </a:t>
            </a:r>
            <a:r>
              <a:rPr lang="fr-FR" sz="2800" b="1" dirty="0"/>
              <a:t>dans un contexte </a:t>
            </a:r>
            <a:r>
              <a:rPr lang="ar-MA" sz="2800" b="1" dirty="0" smtClean="0"/>
              <a:t>)</a:t>
            </a:r>
            <a:r>
              <a:rPr lang="fr-FR" sz="2800" b="1" dirty="0" smtClean="0"/>
              <a:t>professionnel</a:t>
            </a:r>
            <a:r>
              <a:rPr lang="ar-MA" sz="2800" b="1" dirty="0"/>
              <a:t>(</a:t>
            </a:r>
            <a:r>
              <a:rPr lang="fr-FR" sz="2800" b="1" dirty="0" smtClean="0"/>
              <a:t> </a:t>
            </a:r>
            <a:r>
              <a:rPr lang="fr-FR" sz="2800" b="1" dirty="0"/>
              <a:t>donné. </a:t>
            </a:r>
            <a:endParaRPr lang="ar-MA" sz="2800" b="1" dirty="0" smtClean="0"/>
          </a:p>
          <a:p>
            <a:pPr algn="just"/>
            <a:r>
              <a:rPr lang="fr-FR" sz="2800" b="1" dirty="0" smtClean="0"/>
              <a:t>Enfin</a:t>
            </a:r>
            <a:r>
              <a:rPr lang="fr-FR" sz="2800" b="1" dirty="0"/>
              <a:t>, la compétence est </a:t>
            </a:r>
            <a:r>
              <a:rPr lang="fr-FR" sz="2800" b="1" dirty="0">
                <a:solidFill>
                  <a:srgbClr val="FF0000"/>
                </a:solidFill>
              </a:rPr>
              <a:t>dynamique</a:t>
            </a:r>
            <a:r>
              <a:rPr lang="fr-FR" sz="2800" b="1" dirty="0"/>
              <a:t> : « elle</a:t>
            </a:r>
          </a:p>
          <a:p>
            <a:pPr marL="0" indent="0" algn="just">
              <a:buNone/>
            </a:pPr>
            <a:r>
              <a:rPr lang="ar-MA" sz="2800" b="1" dirty="0" smtClean="0"/>
              <a:t>    </a:t>
            </a:r>
            <a:r>
              <a:rPr lang="fr-FR" sz="2800" b="1" dirty="0" smtClean="0"/>
              <a:t>reconstruit les </a:t>
            </a:r>
            <a:r>
              <a:rPr lang="fr-FR" sz="2800" b="1" dirty="0"/>
              <a:t>différents éléments qui la </a:t>
            </a:r>
            <a:r>
              <a:rPr lang="ar-MA" sz="2800" b="1" dirty="0" smtClean="0"/>
              <a:t>    </a:t>
            </a:r>
            <a:r>
              <a:rPr lang="fr-FR" sz="2800" b="1" dirty="0" smtClean="0"/>
              <a:t>constituent (savoirs,</a:t>
            </a:r>
            <a:r>
              <a:rPr lang="ar-MA" sz="2800" b="1" dirty="0" smtClean="0"/>
              <a:t> </a:t>
            </a:r>
            <a:r>
              <a:rPr lang="fr-FR" sz="2800" b="1" dirty="0" smtClean="0"/>
              <a:t>savoir-faire</a:t>
            </a:r>
            <a:r>
              <a:rPr lang="ar-MA" sz="2800" b="1" dirty="0" smtClean="0"/>
              <a:t> </a:t>
            </a:r>
            <a:r>
              <a:rPr lang="fr-FR" sz="2800" b="1" dirty="0" smtClean="0"/>
              <a:t>pratiques</a:t>
            </a:r>
            <a:r>
              <a:rPr lang="fr-FR" sz="2800" b="1" dirty="0"/>
              <a:t>, raisonnement) ». </a:t>
            </a:r>
          </a:p>
        </p:txBody>
      </p:sp>
    </p:spTree>
    <p:extLst>
      <p:ext uri="{BB962C8B-B14F-4D97-AF65-F5344CB8AC3E}">
        <p14:creationId xmlns:p14="http://schemas.microsoft.com/office/powerpoint/2010/main" val="390857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b="1" dirty="0"/>
              <a:t>nous choisissons de définir la compétence comme une</a:t>
            </a:r>
            <a:r>
              <a:rPr lang="fr-FR" sz="2800" b="1" dirty="0">
                <a:solidFill>
                  <a:srgbClr val="FF0000"/>
                </a:solidFill>
              </a:rPr>
              <a:t> aptitude </a:t>
            </a:r>
            <a:r>
              <a:rPr lang="fr-FR" sz="2800" b="1" dirty="0"/>
              <a:t>de l’individu </a:t>
            </a:r>
            <a:r>
              <a:rPr lang="fr-FR" sz="2800" b="1" dirty="0" smtClean="0"/>
              <a:t>à mobiliser </a:t>
            </a:r>
            <a:r>
              <a:rPr lang="fr-FR" sz="2800" b="1" dirty="0"/>
              <a:t>de façon dynamique des </a:t>
            </a:r>
            <a:r>
              <a:rPr lang="fr-FR" sz="2800" b="1" dirty="0" smtClean="0">
                <a:solidFill>
                  <a:srgbClr val="FF0000"/>
                </a:solidFill>
              </a:rPr>
              <a:t>ressources</a:t>
            </a: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hétérogènes</a:t>
            </a:r>
            <a:r>
              <a:rPr lang="fr-FR" sz="2800" b="1" dirty="0" smtClean="0"/>
              <a:t> </a:t>
            </a:r>
            <a:r>
              <a:rPr lang="fr-FR" sz="2800" b="1" dirty="0"/>
              <a:t>(connaissances, savoir-faire</a:t>
            </a:r>
          </a:p>
          <a:p>
            <a:r>
              <a:rPr lang="fr-FR" sz="2800" b="1" dirty="0"/>
              <a:t>techniques, aptitudes </a:t>
            </a:r>
            <a:r>
              <a:rPr lang="fr-FR" sz="2800" b="1" dirty="0" smtClean="0"/>
              <a:t>physiques, comportements) en </a:t>
            </a:r>
            <a:r>
              <a:rPr lang="fr-FR" sz="2800" b="1" dirty="0"/>
              <a:t>vue de produire le résultat attendu </a:t>
            </a:r>
            <a:r>
              <a:rPr lang="fr-FR" sz="2800" b="1" dirty="0" smtClean="0"/>
              <a:t>dans</a:t>
            </a:r>
            <a:r>
              <a:rPr lang="ar-MA" sz="2800" b="1" dirty="0" smtClean="0"/>
              <a:t> </a:t>
            </a:r>
            <a:r>
              <a:rPr lang="fr-FR" sz="2800" b="1" dirty="0" smtClean="0"/>
              <a:t>un </a:t>
            </a:r>
            <a:r>
              <a:rPr lang="fr-FR" sz="2800" b="1" dirty="0">
                <a:solidFill>
                  <a:srgbClr val="FF0000"/>
                </a:solidFill>
              </a:rPr>
              <a:t>contexte donné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078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r">
              <a:buNone/>
            </a:pPr>
            <a:r>
              <a:rPr lang="ar-MA" b="1" dirty="0"/>
              <a:t>تمارين </a:t>
            </a:r>
            <a:r>
              <a:rPr lang="ar-MA" b="1" dirty="0" smtClean="0"/>
              <a:t>تطبيقية </a:t>
            </a:r>
            <a:r>
              <a:rPr lang="ar-MA" b="1" dirty="0"/>
              <a:t>:  </a:t>
            </a:r>
          </a:p>
          <a:p>
            <a:pPr marL="0" indent="0" algn="r">
              <a:buNone/>
            </a:pPr>
            <a:r>
              <a:rPr lang="ar-MA" b="1" dirty="0">
                <a:solidFill>
                  <a:srgbClr val="FF0000"/>
                </a:solidFill>
              </a:rPr>
              <a:t>       قسم الكفايات المذكورة إلى ثلاث خانات الأولى: الموجودة لديك </a:t>
            </a:r>
          </a:p>
          <a:p>
            <a:pPr marL="0" indent="0" algn="r">
              <a:buNone/>
            </a:pPr>
            <a:r>
              <a:rPr lang="ar-MA" b="1" dirty="0">
                <a:solidFill>
                  <a:srgbClr val="FF0000"/>
                </a:solidFill>
              </a:rPr>
              <a:t>و الثانية: تفتقدها و الثالثة: التي لا تستطيع أن تحسم فيها.</a:t>
            </a:r>
          </a:p>
          <a:p>
            <a:pPr marL="0" indent="0" algn="r">
              <a:buNone/>
            </a:pPr>
            <a:endParaRPr lang="ar-MA" b="1" dirty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ar-MA" b="1" dirty="0">
                <a:solidFill>
                  <a:srgbClr val="FF0000"/>
                </a:solidFill>
              </a:rPr>
              <a:t>    - أذكر العوامل التي يمكن أن تسهم في اكتساب إحدى أو بعض الكفايات التي تفتقدها .</a:t>
            </a:r>
          </a:p>
          <a:p>
            <a:pPr marL="0" indent="0" algn="r">
              <a:buNone/>
            </a:pPr>
            <a:endParaRPr lang="ar-MA" b="1" dirty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ar-MA" b="1" dirty="0">
                <a:solidFill>
                  <a:srgbClr val="FF0000"/>
                </a:solidFill>
              </a:rPr>
              <a:t>    - صغ شكلا هندسيا تجمع فيه هذه الكفايات معبرا عن العلاقات القائمة بينها.                                 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130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32656"/>
            <a:ext cx="8147248" cy="579350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ar-MA" sz="2800" b="1" dirty="0" smtClean="0"/>
              <a:t>أفاق تأملية:</a:t>
            </a:r>
          </a:p>
          <a:p>
            <a:pPr marL="0" indent="0" algn="r">
              <a:buNone/>
            </a:pPr>
            <a:r>
              <a:rPr lang="ar-MA" sz="2000" b="1" dirty="0" smtClean="0"/>
              <a:t> يجب أن نميز في إطار الكفايات بين مقاربات مختلفة :</a:t>
            </a:r>
            <a:endParaRPr lang="fr-FR" sz="2000" b="1" dirty="0"/>
          </a:p>
          <a:p>
            <a:endParaRPr lang="ar-MA" sz="1400" dirty="0" smtClean="0"/>
          </a:p>
          <a:p>
            <a:r>
              <a:rPr lang="fr-FR" sz="1800" b="1" dirty="0" smtClean="0"/>
              <a:t>o</a:t>
            </a:r>
            <a:r>
              <a:rPr lang="fr-FR" sz="1800" b="1" dirty="0" smtClean="0">
                <a:solidFill>
                  <a:srgbClr val="FF0000"/>
                </a:solidFill>
              </a:rPr>
              <a:t> </a:t>
            </a:r>
            <a:r>
              <a:rPr lang="fr-FR" sz="1800" b="1" dirty="0">
                <a:solidFill>
                  <a:srgbClr val="FF0000"/>
                </a:solidFill>
              </a:rPr>
              <a:t>Les </a:t>
            </a:r>
            <a:r>
              <a:rPr lang="fr-FR" sz="1800" b="1" dirty="0" smtClean="0">
                <a:solidFill>
                  <a:srgbClr val="FF0000"/>
                </a:solidFill>
              </a:rPr>
              <a:t>habilitées</a:t>
            </a:r>
            <a:r>
              <a:rPr lang="ar-MA" sz="1800" b="1" dirty="0" smtClean="0">
                <a:solidFill>
                  <a:srgbClr val="FF0000"/>
                </a:solidFill>
              </a:rPr>
              <a:t> ا</a:t>
            </a:r>
            <a:r>
              <a:rPr lang="ar-MA" sz="1800" b="1" dirty="0" smtClean="0"/>
              <a:t>لمهارات </a:t>
            </a:r>
            <a:r>
              <a:rPr lang="fr-FR" sz="1800" b="1" dirty="0" smtClean="0"/>
              <a:t> </a:t>
            </a:r>
            <a:r>
              <a:rPr lang="fr-FR" sz="1800" b="1" dirty="0"/>
              <a:t>: aptitudes et capacités qui permettent d'exercer une activité </a:t>
            </a:r>
            <a:r>
              <a:rPr lang="ar-MA" sz="1800" b="1" dirty="0" smtClean="0"/>
              <a:t>.</a:t>
            </a:r>
            <a:endParaRPr lang="fr-FR" sz="1800" b="1" dirty="0"/>
          </a:p>
          <a:p>
            <a:r>
              <a:rPr lang="fr-FR" sz="1800" b="1" dirty="0"/>
              <a:t>o </a:t>
            </a:r>
            <a:r>
              <a:rPr lang="fr-FR" sz="1800" b="1" dirty="0">
                <a:solidFill>
                  <a:srgbClr val="FF0000"/>
                </a:solidFill>
              </a:rPr>
              <a:t>Les </a:t>
            </a:r>
            <a:r>
              <a:rPr lang="fr-FR" sz="1800" b="1" dirty="0" err="1" smtClean="0">
                <a:solidFill>
                  <a:srgbClr val="FF0000"/>
                </a:solidFill>
              </a:rPr>
              <a:t>behaviours</a:t>
            </a:r>
            <a:r>
              <a:rPr lang="ar-MA" sz="1800" b="1" dirty="0" smtClean="0">
                <a:solidFill>
                  <a:srgbClr val="FF0000"/>
                </a:solidFill>
              </a:rPr>
              <a:t> </a:t>
            </a:r>
            <a:r>
              <a:rPr lang="ar-MA" sz="1800" b="1" dirty="0" smtClean="0"/>
              <a:t>السلوكيات </a:t>
            </a:r>
            <a:r>
              <a:rPr lang="fr-FR" sz="1800" b="1" dirty="0" smtClean="0"/>
              <a:t> </a:t>
            </a:r>
            <a:r>
              <a:rPr lang="fr-FR" sz="1800" b="1" dirty="0"/>
              <a:t>: comportements, conceptions de soi qui se déclinent en </a:t>
            </a:r>
            <a:r>
              <a:rPr lang="fr-FR" sz="1800" b="1" dirty="0" smtClean="0"/>
              <a:t>attitudes,</a:t>
            </a:r>
            <a:r>
              <a:rPr lang="ar-MA" sz="1800" b="1" dirty="0" smtClean="0"/>
              <a:t> </a:t>
            </a:r>
            <a:r>
              <a:rPr lang="fr-FR" sz="1800" b="1" dirty="0" smtClean="0"/>
              <a:t>valeurs</a:t>
            </a:r>
            <a:r>
              <a:rPr lang="fr-FR" sz="1800" b="1" dirty="0"/>
              <a:t>, image de soi </a:t>
            </a:r>
            <a:r>
              <a:rPr lang="ar-MA" sz="1800" b="1" dirty="0" smtClean="0"/>
              <a:t>,</a:t>
            </a:r>
          </a:p>
          <a:p>
            <a:pPr marL="0" indent="0">
              <a:buNone/>
            </a:pPr>
            <a:r>
              <a:rPr lang="fr-FR" sz="1800" b="1" dirty="0" smtClean="0"/>
              <a:t>      </a:t>
            </a:r>
            <a:r>
              <a:rPr lang="ar-MA" sz="1800" b="1" dirty="0" smtClean="0"/>
              <a:t>  </a:t>
            </a:r>
            <a:r>
              <a:rPr lang="fr-FR" sz="1800" b="1" dirty="0" smtClean="0"/>
              <a:t>(</a:t>
            </a:r>
            <a:r>
              <a:rPr lang="fr-FR" sz="1800" b="1" dirty="0"/>
              <a:t>exemple </a:t>
            </a:r>
            <a:r>
              <a:rPr lang="fr-FR" sz="1800" b="1" dirty="0">
                <a:solidFill>
                  <a:schemeClr val="tx2"/>
                </a:solidFill>
              </a:rPr>
              <a:t>: la perception qu'une personne a d'elle-même en </a:t>
            </a:r>
            <a:r>
              <a:rPr lang="fr-FR" sz="1800" b="1" dirty="0" smtClean="0">
                <a:solidFill>
                  <a:schemeClr val="tx2"/>
                </a:solidFill>
              </a:rPr>
              <a:t>tant</a:t>
            </a:r>
            <a:r>
              <a:rPr lang="ar-MA" sz="1800" b="1" dirty="0" smtClean="0">
                <a:solidFill>
                  <a:schemeClr val="tx2"/>
                </a:solidFill>
              </a:rPr>
              <a:t> </a:t>
            </a:r>
            <a:r>
              <a:rPr lang="fr-FR" sz="1800" b="1" dirty="0" smtClean="0">
                <a:solidFill>
                  <a:schemeClr val="tx2"/>
                </a:solidFill>
              </a:rPr>
              <a:t>que </a:t>
            </a:r>
            <a:r>
              <a:rPr lang="fr-FR" sz="1800" b="1" dirty="0">
                <a:solidFill>
                  <a:schemeClr val="tx2"/>
                </a:solidFill>
              </a:rPr>
              <a:t>leader ou membre d’une équipe</a:t>
            </a:r>
            <a:r>
              <a:rPr lang="fr-FR" sz="1800" b="1" dirty="0"/>
              <a:t>) </a:t>
            </a:r>
            <a:endParaRPr lang="ar-MA" sz="1800" b="1" dirty="0" smtClean="0"/>
          </a:p>
          <a:p>
            <a:r>
              <a:rPr lang="fr-FR" sz="1800" b="1" dirty="0" smtClean="0"/>
              <a:t>o </a:t>
            </a:r>
            <a:r>
              <a:rPr lang="fr-FR" sz="1800" b="1" dirty="0">
                <a:solidFill>
                  <a:srgbClr val="FF0000"/>
                </a:solidFill>
              </a:rPr>
              <a:t>Les </a:t>
            </a:r>
            <a:r>
              <a:rPr lang="fr-FR" sz="1800" b="1" dirty="0" err="1" smtClean="0">
                <a:solidFill>
                  <a:srgbClr val="FF0000"/>
                </a:solidFill>
              </a:rPr>
              <a:t>knowledges</a:t>
            </a:r>
            <a:r>
              <a:rPr lang="ar-MA" sz="1800" b="1" dirty="0" smtClean="0">
                <a:solidFill>
                  <a:srgbClr val="FF0000"/>
                </a:solidFill>
              </a:rPr>
              <a:t> </a:t>
            </a:r>
            <a:r>
              <a:rPr lang="ar-MA" sz="1800" b="1" dirty="0" smtClean="0"/>
              <a:t>المعارف </a:t>
            </a:r>
            <a:r>
              <a:rPr lang="fr-FR" sz="1800" b="1" dirty="0" smtClean="0"/>
              <a:t> </a:t>
            </a:r>
            <a:r>
              <a:rPr lang="fr-FR" sz="1800" b="1" dirty="0"/>
              <a:t>: connaissances qu'une personne a dans un domaine </a:t>
            </a:r>
            <a:r>
              <a:rPr lang="fr-FR" sz="1800" b="1" dirty="0" smtClean="0"/>
              <a:t>particulier</a:t>
            </a:r>
            <a:r>
              <a:rPr lang="ar-MA" sz="1800" b="1" dirty="0" smtClean="0"/>
              <a:t>.</a:t>
            </a:r>
            <a:endParaRPr lang="fr-FR" sz="1800" b="1" dirty="0"/>
          </a:p>
          <a:p>
            <a:r>
              <a:rPr lang="fr-FR" sz="1800" b="1" dirty="0"/>
              <a:t>o </a:t>
            </a:r>
            <a:r>
              <a:rPr lang="fr-FR" sz="1800" b="1" dirty="0">
                <a:solidFill>
                  <a:srgbClr val="FF0000"/>
                </a:solidFill>
              </a:rPr>
              <a:t>Les </a:t>
            </a:r>
            <a:r>
              <a:rPr lang="fr-FR" sz="1800" b="1" dirty="0" err="1" smtClean="0">
                <a:solidFill>
                  <a:srgbClr val="FF0000"/>
                </a:solidFill>
              </a:rPr>
              <a:t>skills</a:t>
            </a:r>
            <a:r>
              <a:rPr lang="ar-MA" sz="1800" b="1" dirty="0" smtClean="0">
                <a:solidFill>
                  <a:srgbClr val="FF0000"/>
                </a:solidFill>
              </a:rPr>
              <a:t> </a:t>
            </a:r>
            <a:r>
              <a:rPr lang="ar-MA" sz="1800" b="1" dirty="0" smtClean="0"/>
              <a:t>الكفايات </a:t>
            </a:r>
            <a:r>
              <a:rPr lang="fr-FR" sz="1800" b="1" dirty="0" smtClean="0"/>
              <a:t> </a:t>
            </a:r>
            <a:r>
              <a:rPr lang="fr-FR" sz="1800" b="1" dirty="0"/>
              <a:t>: savoir-faire qui correspondent à la démonstration comportementale </a:t>
            </a:r>
            <a:r>
              <a:rPr lang="fr-FR" sz="1800" b="1" dirty="0" smtClean="0"/>
              <a:t>d'une</a:t>
            </a:r>
            <a:r>
              <a:rPr lang="ar-MA" sz="1800" b="1" dirty="0" smtClean="0"/>
              <a:t> </a:t>
            </a:r>
            <a:r>
              <a:rPr lang="fr-FR" sz="1800" b="1" dirty="0" smtClean="0"/>
              <a:t>expertise </a:t>
            </a:r>
            <a:r>
              <a:rPr lang="ar-MA" sz="1800" b="1" dirty="0" smtClean="0"/>
              <a:t>.</a:t>
            </a:r>
            <a:endParaRPr lang="fr-FR" sz="1800" b="1" dirty="0"/>
          </a:p>
          <a:p>
            <a:r>
              <a:rPr lang="fr-FR" sz="1800" b="1" dirty="0"/>
              <a:t>o </a:t>
            </a:r>
            <a:r>
              <a:rPr lang="fr-FR" sz="1800" b="1" dirty="0">
                <a:solidFill>
                  <a:srgbClr val="FF0000"/>
                </a:solidFill>
              </a:rPr>
              <a:t>Les traits de personnalité </a:t>
            </a:r>
            <a:r>
              <a:rPr lang="fr-FR" sz="1800" b="1" dirty="0"/>
              <a:t>qui conduisent à se comporter de telle ou telle façon </a:t>
            </a:r>
            <a:endParaRPr lang="ar-MA" sz="1800" b="1" dirty="0" smtClean="0"/>
          </a:p>
          <a:p>
            <a:pPr marL="0" indent="0">
              <a:buNone/>
            </a:pPr>
            <a:r>
              <a:rPr lang="ar-MA" sz="1800" b="1" dirty="0" smtClean="0"/>
              <a:t>           </a:t>
            </a:r>
            <a:r>
              <a:rPr lang="fr-FR" sz="1800" b="1" dirty="0" smtClean="0"/>
              <a:t>(</a:t>
            </a:r>
            <a:r>
              <a:rPr lang="fr-FR" sz="1800" b="1" dirty="0"/>
              <a:t>exemple </a:t>
            </a:r>
            <a:r>
              <a:rPr lang="fr-FR" sz="1800" b="1" dirty="0" smtClean="0"/>
              <a:t>:</a:t>
            </a:r>
            <a:r>
              <a:rPr lang="ar-MA" sz="1800" b="1" dirty="0" smtClean="0"/>
              <a:t> </a:t>
            </a:r>
            <a:r>
              <a:rPr lang="fr-FR" sz="1800" b="1" dirty="0" smtClean="0">
                <a:solidFill>
                  <a:schemeClr val="tx2"/>
                </a:solidFill>
              </a:rPr>
              <a:t>la persévérance</a:t>
            </a:r>
            <a:r>
              <a:rPr lang="ar-MA" sz="1800" b="1" dirty="0" smtClean="0">
                <a:solidFill>
                  <a:schemeClr val="tx2"/>
                </a:solidFill>
              </a:rPr>
              <a:t> المثابرة </a:t>
            </a:r>
            <a:r>
              <a:rPr lang="fr-FR" sz="1800" b="1" dirty="0" smtClean="0">
                <a:solidFill>
                  <a:schemeClr val="tx2"/>
                </a:solidFill>
              </a:rPr>
              <a:t>, l'adaptabilité</a:t>
            </a:r>
            <a:r>
              <a:rPr lang="ar-MA" sz="1800" b="1" dirty="0" smtClean="0">
                <a:solidFill>
                  <a:schemeClr val="tx2"/>
                </a:solidFill>
              </a:rPr>
              <a:t> التأقلم </a:t>
            </a:r>
            <a:r>
              <a:rPr lang="fr-FR" sz="1800" b="1" dirty="0" smtClean="0">
                <a:solidFill>
                  <a:schemeClr val="tx2"/>
                </a:solidFill>
              </a:rPr>
              <a:t>, l'initiative</a:t>
            </a:r>
            <a:r>
              <a:rPr lang="ar-MA" sz="1800" b="1" dirty="0" smtClean="0">
                <a:solidFill>
                  <a:schemeClr val="tx2"/>
                </a:solidFill>
              </a:rPr>
              <a:t>المبادرة </a:t>
            </a:r>
            <a:r>
              <a:rPr lang="fr-FR" sz="1800" b="1" dirty="0" smtClean="0"/>
              <a:t>) </a:t>
            </a:r>
            <a:endParaRPr lang="ar-MA" sz="1800" b="1" dirty="0" smtClean="0"/>
          </a:p>
          <a:p>
            <a:r>
              <a:rPr lang="fr-FR" sz="1800" b="1" dirty="0" smtClean="0"/>
              <a:t>o </a:t>
            </a:r>
            <a:r>
              <a:rPr lang="fr-FR" sz="1800" b="1" dirty="0">
                <a:solidFill>
                  <a:srgbClr val="FF0000"/>
                </a:solidFill>
              </a:rPr>
              <a:t>Les </a:t>
            </a:r>
            <a:r>
              <a:rPr lang="fr-FR" sz="1800" b="1" dirty="0" smtClean="0">
                <a:solidFill>
                  <a:srgbClr val="FF0000"/>
                </a:solidFill>
              </a:rPr>
              <a:t>motives,</a:t>
            </a:r>
            <a:r>
              <a:rPr lang="ar-MA" sz="1800" b="1" dirty="0" smtClean="0"/>
              <a:t>الدوافع و المحفزات </a:t>
            </a:r>
            <a:r>
              <a:rPr lang="fr-FR" sz="1800" b="1" dirty="0" smtClean="0"/>
              <a:t> </a:t>
            </a:r>
            <a:r>
              <a:rPr lang="fr-FR" sz="1800" b="1" dirty="0"/>
              <a:t>motivations qui correspondent aux forces intérieures récurrentes </a:t>
            </a:r>
            <a:r>
              <a:rPr lang="fr-FR" sz="1800" b="1" dirty="0" smtClean="0"/>
              <a:t>qui</a:t>
            </a:r>
            <a:r>
              <a:rPr lang="ar-MA" sz="1800" b="1" dirty="0" smtClean="0"/>
              <a:t> </a:t>
            </a:r>
            <a:r>
              <a:rPr lang="fr-FR" sz="1800" b="1" dirty="0" smtClean="0"/>
              <a:t>génèrent </a:t>
            </a:r>
            <a:r>
              <a:rPr lang="fr-FR" sz="1800" b="1" dirty="0"/>
              <a:t>les comportements au travail</a:t>
            </a:r>
            <a:r>
              <a:rPr lang="fr-FR" sz="1800" b="1" dirty="0" smtClean="0"/>
              <a:t>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19936080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3765</TotalTime>
  <Words>1555</Words>
  <Application>Microsoft Office PowerPoint</Application>
  <PresentationFormat>Affichage à l'écran (4:3)</PresentationFormat>
  <Paragraphs>138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le patriotisme « تمغربيت»</vt:lpstr>
      <vt:lpstr> والثقافة التنمويةle patriotisme  </vt:lpstr>
      <vt:lpstr>التمَغْرِبِيتْ التنموية « العموقية »</vt:lpstr>
      <vt:lpstr>le patriotismeتمغربيت  et Soft skills </vt:lpstr>
      <vt:lpstr>Présentation PowerPoint</vt:lpstr>
      <vt:lpstr>رهانات الكفايات الصلبة(التقنية) والناعمة(الذاتية).</vt:lpstr>
      <vt:lpstr>المعلوم من الكفايات الذاتية بالضرورة</vt:lpstr>
      <vt:lpstr>Présentation PowerPoint</vt:lpstr>
      <vt:lpstr>Présentation PowerPoint</vt:lpstr>
      <vt:lpstr>الموهبة والكفاية</vt:lpstr>
      <vt:lpstr>Compétences contextualisés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الفن و الثقافة</dc:title>
  <dc:creator>admin</dc:creator>
  <cp:lastModifiedBy>admin</cp:lastModifiedBy>
  <cp:revision>259</cp:revision>
  <dcterms:created xsi:type="dcterms:W3CDTF">2025-01-15T20:57:00Z</dcterms:created>
  <dcterms:modified xsi:type="dcterms:W3CDTF">2025-12-08T23:01:38Z</dcterms:modified>
</cp:coreProperties>
</file>